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65" r:id="rId2"/>
    <p:sldId id="257" r:id="rId3"/>
    <p:sldId id="263" r:id="rId4"/>
    <p:sldId id="267" r:id="rId5"/>
    <p:sldId id="271" r:id="rId6"/>
    <p:sldId id="275" r:id="rId7"/>
    <p:sldId id="277" r:id="rId8"/>
    <p:sldId id="280" r:id="rId9"/>
    <p:sldId id="272" r:id="rId10"/>
    <p:sldId id="273" r:id="rId11"/>
    <p:sldId id="281" r:id="rId12"/>
    <p:sldId id="278" r:id="rId13"/>
    <p:sldId id="276" r:id="rId14"/>
    <p:sldId id="25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BD760"/>
    <a:srgbClr val="4DA7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E4F68E-814E-D34F-98BC-36A404C2046D}" v="438" dt="2024-12-03T02:32:51.381"/>
    <p1510:client id="{C0F80D5A-3439-FE23-4679-39230AEF6C77}" v="178" dt="2024-12-02T19:42:54.403"/>
    <p1510:client id="{DFE67A9B-D0E2-2B07-2DF9-BDA20727B92A}" v="93" dt="2024-12-03T02:30:08.5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79710"/>
  </p:normalViewPr>
  <p:slideViewPr>
    <p:cSldViewPr snapToGrid="0">
      <p:cViewPr varScale="1">
        <p:scale>
          <a:sx n="84" d="100"/>
          <a:sy n="84" d="100"/>
        </p:scale>
        <p:origin x="164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0D0C6C5-A52B-5042-8CE7-693F69BE88F7}" type="doc">
      <dgm:prSet loTypeId="urn:microsoft.com/office/officeart/2005/8/layout/matrix1" loCatId="" qsTypeId="urn:microsoft.com/office/officeart/2005/8/quickstyle/simple1" qsCatId="simple" csTypeId="urn:microsoft.com/office/officeart/2005/8/colors/accent1_2" csCatId="accent1" phldr="1"/>
      <dgm:spPr/>
      <dgm:t>
        <a:bodyPr/>
        <a:lstStyle/>
        <a:p>
          <a:endParaRPr lang="en-US"/>
        </a:p>
      </dgm:t>
    </dgm:pt>
    <dgm:pt modelId="{B3C20EA7-B47C-6349-B0DC-4CA866369CD3}">
      <dgm:prSet phldrT="[Text]"/>
      <dgm:spPr>
        <a:solidFill>
          <a:schemeClr val="bg1"/>
        </a:solidFill>
      </dgm:spPr>
      <dgm:t>
        <a:bodyPr/>
        <a:lstStyle/>
        <a:p>
          <a:r>
            <a:rPr lang="en-US">
              <a:solidFill>
                <a:schemeClr val="tx1"/>
              </a:solidFill>
            </a:rPr>
            <a:t>Results</a:t>
          </a:r>
        </a:p>
      </dgm:t>
    </dgm:pt>
    <dgm:pt modelId="{A6DD83BE-5214-B545-82E2-71A2CC6018FC}" type="parTrans" cxnId="{A60B1B5D-6233-274F-878A-622104B1D555}">
      <dgm:prSet/>
      <dgm:spPr/>
      <dgm:t>
        <a:bodyPr/>
        <a:lstStyle/>
        <a:p>
          <a:endParaRPr lang="en-US"/>
        </a:p>
      </dgm:t>
    </dgm:pt>
    <dgm:pt modelId="{E2CC4E51-D739-4A40-99BA-80FF8C6A2802}" type="sibTrans" cxnId="{A60B1B5D-6233-274F-878A-622104B1D555}">
      <dgm:prSet/>
      <dgm:spPr/>
      <dgm:t>
        <a:bodyPr/>
        <a:lstStyle/>
        <a:p>
          <a:endParaRPr lang="en-US"/>
        </a:p>
      </dgm:t>
    </dgm:pt>
    <dgm:pt modelId="{01A7F20A-FB59-904C-ADF1-865E9A929A0A}">
      <dgm:prSet phldrT="[Text]" custT="1"/>
      <dgm:spPr>
        <a:solidFill>
          <a:srgbClr val="1BD760"/>
        </a:solidFill>
      </dgm:spPr>
      <dgm:t>
        <a:bodyPr/>
        <a:lstStyle/>
        <a:p>
          <a:pPr>
            <a:buFont typeface="Arial" panose="020B0604020202020204" pitchFamily="34" charset="0"/>
            <a:buChar char="•"/>
          </a:pPr>
          <a:r>
            <a:rPr lang="en-US" sz="2400" b="1" i="0">
              <a:solidFill>
                <a:schemeClr val="bg2"/>
              </a:solidFill>
              <a:effectLst/>
            </a:rPr>
            <a:t>Accuracy: </a:t>
          </a:r>
        </a:p>
        <a:p>
          <a:pPr>
            <a:buFont typeface="Arial" panose="020B0604020202020204" pitchFamily="34" charset="0"/>
            <a:buChar char="•"/>
          </a:pPr>
          <a:r>
            <a:rPr lang="en-US" sz="1900" b="0" i="0">
              <a:solidFill>
                <a:schemeClr val="bg2"/>
              </a:solidFill>
              <a:effectLst/>
            </a:rPr>
            <a:t>65.2%, but the model struggles with identifying high-streaming success songs, as shown by precision and recall of 0 for high streaming.</a:t>
          </a:r>
          <a:endParaRPr lang="en-US" sz="1900">
            <a:solidFill>
              <a:schemeClr val="bg2"/>
            </a:solidFill>
          </a:endParaRPr>
        </a:p>
      </dgm:t>
    </dgm:pt>
    <dgm:pt modelId="{DCAB4BE1-BBD8-AB4D-825A-4DBB8FC307F9}" type="parTrans" cxnId="{FCA97F21-F3E3-A74C-8188-782C9C41F367}">
      <dgm:prSet/>
      <dgm:spPr/>
      <dgm:t>
        <a:bodyPr/>
        <a:lstStyle/>
        <a:p>
          <a:endParaRPr lang="en-US"/>
        </a:p>
      </dgm:t>
    </dgm:pt>
    <dgm:pt modelId="{7FDCC5FE-946F-5849-B4C3-5CB5449BEAC3}" type="sibTrans" cxnId="{FCA97F21-F3E3-A74C-8188-782C9C41F367}">
      <dgm:prSet/>
      <dgm:spPr/>
      <dgm:t>
        <a:bodyPr/>
        <a:lstStyle/>
        <a:p>
          <a:endParaRPr lang="en-US"/>
        </a:p>
      </dgm:t>
    </dgm:pt>
    <dgm:pt modelId="{566E01C2-360E-3142-AF6B-D0E6742A49C1}">
      <dgm:prSet phldrT="[Text]" custT="1"/>
      <dgm:spPr>
        <a:solidFill>
          <a:srgbClr val="1BD760"/>
        </a:solidFill>
      </dgm:spPr>
      <dgm:t>
        <a:bodyPr/>
        <a:lstStyle/>
        <a:p>
          <a:pPr>
            <a:buFont typeface="Arial" panose="020B0604020202020204" pitchFamily="34" charset="0"/>
            <a:buChar char="•"/>
          </a:pPr>
          <a:r>
            <a:rPr lang="en-US" sz="2400" b="1">
              <a:solidFill>
                <a:schemeClr val="bg2"/>
              </a:solidFill>
            </a:rPr>
            <a:t>Class Imbalance: </a:t>
          </a:r>
        </a:p>
        <a:p>
          <a:pPr>
            <a:buFont typeface="Arial" panose="020B0604020202020204" pitchFamily="34" charset="0"/>
            <a:buChar char="•"/>
          </a:pPr>
          <a:r>
            <a:rPr lang="en-US" sz="1900" b="0" i="0">
              <a:solidFill>
                <a:schemeClr val="bg2"/>
              </a:solidFill>
              <a:effectLst/>
            </a:rPr>
            <a:t>The model is biased towards predicting low streaming success (class 0), as indicated by a recall of 98% for class 0, while it fails to predict high streaming success.</a:t>
          </a:r>
          <a:endParaRPr lang="en-US" sz="1900">
            <a:solidFill>
              <a:schemeClr val="bg2"/>
            </a:solidFill>
          </a:endParaRPr>
        </a:p>
      </dgm:t>
    </dgm:pt>
    <dgm:pt modelId="{3653A424-7603-B04B-80A4-1AA1D8F9A6E0}" type="parTrans" cxnId="{02FF0DAF-5345-0D42-86FD-7F76812B951C}">
      <dgm:prSet/>
      <dgm:spPr/>
      <dgm:t>
        <a:bodyPr/>
        <a:lstStyle/>
        <a:p>
          <a:endParaRPr lang="en-US"/>
        </a:p>
      </dgm:t>
    </dgm:pt>
    <dgm:pt modelId="{2984D384-47F0-9547-9D87-A6B0A33D12A0}" type="sibTrans" cxnId="{02FF0DAF-5345-0D42-86FD-7F76812B951C}">
      <dgm:prSet/>
      <dgm:spPr/>
      <dgm:t>
        <a:bodyPr/>
        <a:lstStyle/>
        <a:p>
          <a:endParaRPr lang="en-US"/>
        </a:p>
      </dgm:t>
    </dgm:pt>
    <dgm:pt modelId="{B442A794-689C-0643-9B0F-F1560233F0BF}">
      <dgm:prSet phldrT="[Text]" custT="1"/>
      <dgm:spPr>
        <a:solidFill>
          <a:srgbClr val="1BD760"/>
        </a:solidFill>
      </dgm:spPr>
      <dgm:t>
        <a:bodyPr/>
        <a:lstStyle/>
        <a:p>
          <a:pPr>
            <a:buFont typeface="Arial" panose="020B0604020202020204" pitchFamily="34" charset="0"/>
            <a:buChar char="•"/>
          </a:pPr>
          <a:r>
            <a:rPr lang="en-US" sz="2400" b="1">
              <a:solidFill>
                <a:schemeClr val="bg2"/>
              </a:solidFill>
            </a:rPr>
            <a:t>Positive Keywords for High Streaming:</a:t>
          </a:r>
        </a:p>
        <a:p>
          <a:pPr>
            <a:buFont typeface="Arial" panose="020B0604020202020204" pitchFamily="34" charset="0"/>
            <a:buChar char="•"/>
          </a:pPr>
          <a:r>
            <a:rPr lang="en-US" sz="2400" b="1">
              <a:solidFill>
                <a:schemeClr val="bg2"/>
              </a:solidFill>
            </a:rPr>
            <a:t> </a:t>
          </a:r>
          <a:r>
            <a:rPr lang="en-US" sz="1900" b="0" i="0">
              <a:solidFill>
                <a:schemeClr val="bg2"/>
              </a:solidFill>
              <a:effectLst/>
            </a:rPr>
            <a:t>Keywords like "dark," "summer," "remix," and "levitating" are positively associated with high streaming success, suggesting themes of energy, vibe, and popular trends.</a:t>
          </a:r>
          <a:endParaRPr lang="en-US" sz="1900">
            <a:solidFill>
              <a:schemeClr val="bg2"/>
            </a:solidFill>
          </a:endParaRPr>
        </a:p>
      </dgm:t>
    </dgm:pt>
    <dgm:pt modelId="{A84451D1-D305-7D48-8258-04C63DDB6800}" type="parTrans" cxnId="{20842527-341E-A340-87D6-FFB1E4208C07}">
      <dgm:prSet/>
      <dgm:spPr/>
      <dgm:t>
        <a:bodyPr/>
        <a:lstStyle/>
        <a:p>
          <a:endParaRPr lang="en-US"/>
        </a:p>
      </dgm:t>
    </dgm:pt>
    <dgm:pt modelId="{03FBA94D-4A2E-3544-9495-25CFDC050BD1}" type="sibTrans" cxnId="{20842527-341E-A340-87D6-FFB1E4208C07}">
      <dgm:prSet/>
      <dgm:spPr/>
      <dgm:t>
        <a:bodyPr/>
        <a:lstStyle/>
        <a:p>
          <a:endParaRPr lang="en-US"/>
        </a:p>
      </dgm:t>
    </dgm:pt>
    <dgm:pt modelId="{A690CF3F-E051-6C4B-A024-1883C60312E2}">
      <dgm:prSet phldrT="[Text]" custT="1"/>
      <dgm:spPr>
        <a:solidFill>
          <a:srgbClr val="1BD760"/>
        </a:solidFill>
      </dgm:spPr>
      <dgm:t>
        <a:bodyPr/>
        <a:lstStyle/>
        <a:p>
          <a:pPr>
            <a:buFont typeface="Arial" panose="020B0604020202020204" pitchFamily="34" charset="0"/>
            <a:buChar char="•"/>
          </a:pPr>
          <a:r>
            <a:rPr lang="en-US" sz="2400" b="1">
              <a:solidFill>
                <a:schemeClr val="bg2"/>
              </a:solidFill>
            </a:rPr>
            <a:t>Negative Keywords for Low Streaming: </a:t>
          </a:r>
        </a:p>
        <a:p>
          <a:pPr>
            <a:buFont typeface="Arial" panose="020B0604020202020204" pitchFamily="34" charset="0"/>
            <a:buChar char="•"/>
          </a:pPr>
          <a:r>
            <a:rPr lang="en-US" sz="2000" b="0" i="0">
              <a:solidFill>
                <a:schemeClr val="bg2"/>
              </a:solidFill>
              <a:effectLst/>
            </a:rPr>
            <a:t>Keywords like as "feels," "thought," "baby," and "crazy" correlate with low streaming success, potentially reflecting less popular or niche themes.</a:t>
          </a:r>
          <a:endParaRPr lang="en-US" sz="2000">
            <a:solidFill>
              <a:schemeClr val="bg2"/>
            </a:solidFill>
          </a:endParaRPr>
        </a:p>
      </dgm:t>
    </dgm:pt>
    <dgm:pt modelId="{AD611750-CAC4-3F43-A216-F3F84907B671}" type="parTrans" cxnId="{0B9621B7-ED7C-9F4D-9B69-BBD8CAB78520}">
      <dgm:prSet/>
      <dgm:spPr/>
      <dgm:t>
        <a:bodyPr/>
        <a:lstStyle/>
        <a:p>
          <a:endParaRPr lang="en-US"/>
        </a:p>
      </dgm:t>
    </dgm:pt>
    <dgm:pt modelId="{77BEE5F8-C82F-8845-A5F8-4F69BCD4C1CB}" type="sibTrans" cxnId="{0B9621B7-ED7C-9F4D-9B69-BBD8CAB78520}">
      <dgm:prSet/>
      <dgm:spPr/>
      <dgm:t>
        <a:bodyPr/>
        <a:lstStyle/>
        <a:p>
          <a:endParaRPr lang="en-US"/>
        </a:p>
      </dgm:t>
    </dgm:pt>
    <dgm:pt modelId="{B0031DFF-2A42-2F4E-8142-B610BA2BD65C}" type="pres">
      <dgm:prSet presAssocID="{80D0C6C5-A52B-5042-8CE7-693F69BE88F7}" presName="diagram" presStyleCnt="0">
        <dgm:presLayoutVars>
          <dgm:chMax val="1"/>
          <dgm:dir/>
          <dgm:animLvl val="ctr"/>
          <dgm:resizeHandles val="exact"/>
        </dgm:presLayoutVars>
      </dgm:prSet>
      <dgm:spPr/>
    </dgm:pt>
    <dgm:pt modelId="{AED8FD3E-3571-3745-BAA0-7A6D24E32189}" type="pres">
      <dgm:prSet presAssocID="{80D0C6C5-A52B-5042-8CE7-693F69BE88F7}" presName="matrix" presStyleCnt="0"/>
      <dgm:spPr/>
    </dgm:pt>
    <dgm:pt modelId="{DB2A1584-AA74-6048-9CFD-549C2339B2C3}" type="pres">
      <dgm:prSet presAssocID="{80D0C6C5-A52B-5042-8CE7-693F69BE88F7}" presName="tile1" presStyleLbl="node1" presStyleIdx="0" presStyleCnt="4"/>
      <dgm:spPr/>
    </dgm:pt>
    <dgm:pt modelId="{E8BEF0A5-8369-144A-8259-8C462F491531}" type="pres">
      <dgm:prSet presAssocID="{80D0C6C5-A52B-5042-8CE7-693F69BE88F7}" presName="tile1text" presStyleLbl="node1" presStyleIdx="0" presStyleCnt="4">
        <dgm:presLayoutVars>
          <dgm:chMax val="0"/>
          <dgm:chPref val="0"/>
          <dgm:bulletEnabled val="1"/>
        </dgm:presLayoutVars>
      </dgm:prSet>
      <dgm:spPr/>
    </dgm:pt>
    <dgm:pt modelId="{46C6E9B8-88FC-9541-83E5-35D86FE3546D}" type="pres">
      <dgm:prSet presAssocID="{80D0C6C5-A52B-5042-8CE7-693F69BE88F7}" presName="tile2" presStyleLbl="node1" presStyleIdx="1" presStyleCnt="4" custLinFactNeighborX="21399" custLinFactNeighborY="-3962"/>
      <dgm:spPr/>
    </dgm:pt>
    <dgm:pt modelId="{C61BBFAF-E813-2C4A-A8D1-D9AD0B398020}" type="pres">
      <dgm:prSet presAssocID="{80D0C6C5-A52B-5042-8CE7-693F69BE88F7}" presName="tile2text" presStyleLbl="node1" presStyleIdx="1" presStyleCnt="4">
        <dgm:presLayoutVars>
          <dgm:chMax val="0"/>
          <dgm:chPref val="0"/>
          <dgm:bulletEnabled val="1"/>
        </dgm:presLayoutVars>
      </dgm:prSet>
      <dgm:spPr/>
    </dgm:pt>
    <dgm:pt modelId="{7A287DCA-3C34-EE4F-A48A-E038CD978B93}" type="pres">
      <dgm:prSet presAssocID="{80D0C6C5-A52B-5042-8CE7-693F69BE88F7}" presName="tile3" presStyleLbl="node1" presStyleIdx="2" presStyleCnt="4"/>
      <dgm:spPr/>
    </dgm:pt>
    <dgm:pt modelId="{3395447E-1945-C746-AFAB-E2D8AB5CA685}" type="pres">
      <dgm:prSet presAssocID="{80D0C6C5-A52B-5042-8CE7-693F69BE88F7}" presName="tile3text" presStyleLbl="node1" presStyleIdx="2" presStyleCnt="4">
        <dgm:presLayoutVars>
          <dgm:chMax val="0"/>
          <dgm:chPref val="0"/>
          <dgm:bulletEnabled val="1"/>
        </dgm:presLayoutVars>
      </dgm:prSet>
      <dgm:spPr/>
    </dgm:pt>
    <dgm:pt modelId="{F9E5A0C8-108C-2840-B1C0-CA6EE65D9B89}" type="pres">
      <dgm:prSet presAssocID="{80D0C6C5-A52B-5042-8CE7-693F69BE88F7}" presName="tile4" presStyleLbl="node1" presStyleIdx="3" presStyleCnt="4"/>
      <dgm:spPr/>
    </dgm:pt>
    <dgm:pt modelId="{3DA325A7-88E7-B844-8AF0-48F59FD21DA1}" type="pres">
      <dgm:prSet presAssocID="{80D0C6C5-A52B-5042-8CE7-693F69BE88F7}" presName="tile4text" presStyleLbl="node1" presStyleIdx="3" presStyleCnt="4">
        <dgm:presLayoutVars>
          <dgm:chMax val="0"/>
          <dgm:chPref val="0"/>
          <dgm:bulletEnabled val="1"/>
        </dgm:presLayoutVars>
      </dgm:prSet>
      <dgm:spPr/>
    </dgm:pt>
    <dgm:pt modelId="{620C3139-1BF1-6A46-B392-B4E573053F30}" type="pres">
      <dgm:prSet presAssocID="{80D0C6C5-A52B-5042-8CE7-693F69BE88F7}" presName="centerTile" presStyleLbl="fgShp" presStyleIdx="0" presStyleCnt="1" custScaleX="45351" custScaleY="41803">
        <dgm:presLayoutVars>
          <dgm:chMax val="0"/>
          <dgm:chPref val="0"/>
        </dgm:presLayoutVars>
      </dgm:prSet>
      <dgm:spPr/>
    </dgm:pt>
  </dgm:ptLst>
  <dgm:cxnLst>
    <dgm:cxn modelId="{AF069109-9931-D745-B4C8-3BF546C2510F}" type="presOf" srcId="{A690CF3F-E051-6C4B-A024-1883C60312E2}" destId="{3DA325A7-88E7-B844-8AF0-48F59FD21DA1}" srcOrd="1" destOrd="0" presId="urn:microsoft.com/office/officeart/2005/8/layout/matrix1"/>
    <dgm:cxn modelId="{FCA97F21-F3E3-A74C-8188-782C9C41F367}" srcId="{B3C20EA7-B47C-6349-B0DC-4CA866369CD3}" destId="{01A7F20A-FB59-904C-ADF1-865E9A929A0A}" srcOrd="0" destOrd="0" parTransId="{DCAB4BE1-BBD8-AB4D-825A-4DBB8FC307F9}" sibTransId="{7FDCC5FE-946F-5849-B4C3-5CB5449BEAC3}"/>
    <dgm:cxn modelId="{20842527-341E-A340-87D6-FFB1E4208C07}" srcId="{B3C20EA7-B47C-6349-B0DC-4CA866369CD3}" destId="{B442A794-689C-0643-9B0F-F1560233F0BF}" srcOrd="2" destOrd="0" parTransId="{A84451D1-D305-7D48-8258-04C63DDB6800}" sibTransId="{03FBA94D-4A2E-3544-9495-25CFDC050BD1}"/>
    <dgm:cxn modelId="{96F3092D-4795-C740-824F-BC4FFA1B8161}" type="presOf" srcId="{B442A794-689C-0643-9B0F-F1560233F0BF}" destId="{3395447E-1945-C746-AFAB-E2D8AB5CA685}" srcOrd="1" destOrd="0" presId="urn:microsoft.com/office/officeart/2005/8/layout/matrix1"/>
    <dgm:cxn modelId="{A60B1B5D-6233-274F-878A-622104B1D555}" srcId="{80D0C6C5-A52B-5042-8CE7-693F69BE88F7}" destId="{B3C20EA7-B47C-6349-B0DC-4CA866369CD3}" srcOrd="0" destOrd="0" parTransId="{A6DD83BE-5214-B545-82E2-71A2CC6018FC}" sibTransId="{E2CC4E51-D739-4A40-99BA-80FF8C6A2802}"/>
    <dgm:cxn modelId="{B4BC9E6C-78A3-EF4A-9E5C-2CF88B8D57F4}" type="presOf" srcId="{01A7F20A-FB59-904C-ADF1-865E9A929A0A}" destId="{DB2A1584-AA74-6048-9CFD-549C2339B2C3}" srcOrd="0" destOrd="0" presId="urn:microsoft.com/office/officeart/2005/8/layout/matrix1"/>
    <dgm:cxn modelId="{51092F7A-94B0-924F-A63B-23EB4F18D00F}" type="presOf" srcId="{566E01C2-360E-3142-AF6B-D0E6742A49C1}" destId="{C61BBFAF-E813-2C4A-A8D1-D9AD0B398020}" srcOrd="1" destOrd="0" presId="urn:microsoft.com/office/officeart/2005/8/layout/matrix1"/>
    <dgm:cxn modelId="{8AF4D4A9-6939-6641-9C65-67219F150EB5}" type="presOf" srcId="{80D0C6C5-A52B-5042-8CE7-693F69BE88F7}" destId="{B0031DFF-2A42-2F4E-8142-B610BA2BD65C}" srcOrd="0" destOrd="0" presId="urn:microsoft.com/office/officeart/2005/8/layout/matrix1"/>
    <dgm:cxn modelId="{02FF0DAF-5345-0D42-86FD-7F76812B951C}" srcId="{B3C20EA7-B47C-6349-B0DC-4CA866369CD3}" destId="{566E01C2-360E-3142-AF6B-D0E6742A49C1}" srcOrd="1" destOrd="0" parTransId="{3653A424-7603-B04B-80A4-1AA1D8F9A6E0}" sibTransId="{2984D384-47F0-9547-9D87-A6B0A33D12A0}"/>
    <dgm:cxn modelId="{BA5B02B2-4B38-1241-BD36-27C57DE1C1FD}" type="presOf" srcId="{566E01C2-360E-3142-AF6B-D0E6742A49C1}" destId="{46C6E9B8-88FC-9541-83E5-35D86FE3546D}" srcOrd="0" destOrd="0" presId="urn:microsoft.com/office/officeart/2005/8/layout/matrix1"/>
    <dgm:cxn modelId="{C253F8B2-D973-9F4B-BD79-417B21A22A5F}" type="presOf" srcId="{A690CF3F-E051-6C4B-A024-1883C60312E2}" destId="{F9E5A0C8-108C-2840-B1C0-CA6EE65D9B89}" srcOrd="0" destOrd="0" presId="urn:microsoft.com/office/officeart/2005/8/layout/matrix1"/>
    <dgm:cxn modelId="{0B9621B7-ED7C-9F4D-9B69-BBD8CAB78520}" srcId="{B3C20EA7-B47C-6349-B0DC-4CA866369CD3}" destId="{A690CF3F-E051-6C4B-A024-1883C60312E2}" srcOrd="3" destOrd="0" parTransId="{AD611750-CAC4-3F43-A216-F3F84907B671}" sibTransId="{77BEE5F8-C82F-8845-A5F8-4F69BCD4C1CB}"/>
    <dgm:cxn modelId="{F9F9B4CB-25D3-CE46-9DBF-1861BA53B2DB}" type="presOf" srcId="{01A7F20A-FB59-904C-ADF1-865E9A929A0A}" destId="{E8BEF0A5-8369-144A-8259-8C462F491531}" srcOrd="1" destOrd="0" presId="urn:microsoft.com/office/officeart/2005/8/layout/matrix1"/>
    <dgm:cxn modelId="{F15E84CE-77D5-7C4D-9EEA-8F1760E1DE3C}" type="presOf" srcId="{B3C20EA7-B47C-6349-B0DC-4CA866369CD3}" destId="{620C3139-1BF1-6A46-B392-B4E573053F30}" srcOrd="0" destOrd="0" presId="urn:microsoft.com/office/officeart/2005/8/layout/matrix1"/>
    <dgm:cxn modelId="{C60D72E1-BA2B-1D42-86FB-F2FC84C3AEE1}" type="presOf" srcId="{B442A794-689C-0643-9B0F-F1560233F0BF}" destId="{7A287DCA-3C34-EE4F-A48A-E038CD978B93}" srcOrd="0" destOrd="0" presId="urn:microsoft.com/office/officeart/2005/8/layout/matrix1"/>
    <dgm:cxn modelId="{CDDC3410-7F82-DE41-991F-87ED57E5D465}" type="presParOf" srcId="{B0031DFF-2A42-2F4E-8142-B610BA2BD65C}" destId="{AED8FD3E-3571-3745-BAA0-7A6D24E32189}" srcOrd="0" destOrd="0" presId="urn:microsoft.com/office/officeart/2005/8/layout/matrix1"/>
    <dgm:cxn modelId="{BF265BB1-D1A9-7446-84F0-D66AF5B252A1}" type="presParOf" srcId="{AED8FD3E-3571-3745-BAA0-7A6D24E32189}" destId="{DB2A1584-AA74-6048-9CFD-549C2339B2C3}" srcOrd="0" destOrd="0" presId="urn:microsoft.com/office/officeart/2005/8/layout/matrix1"/>
    <dgm:cxn modelId="{D0155C00-2B1B-4743-B76F-55B8B287E90A}" type="presParOf" srcId="{AED8FD3E-3571-3745-BAA0-7A6D24E32189}" destId="{E8BEF0A5-8369-144A-8259-8C462F491531}" srcOrd="1" destOrd="0" presId="urn:microsoft.com/office/officeart/2005/8/layout/matrix1"/>
    <dgm:cxn modelId="{3CA46A64-8D21-E549-A974-F2C5366CD3A2}" type="presParOf" srcId="{AED8FD3E-3571-3745-BAA0-7A6D24E32189}" destId="{46C6E9B8-88FC-9541-83E5-35D86FE3546D}" srcOrd="2" destOrd="0" presId="urn:microsoft.com/office/officeart/2005/8/layout/matrix1"/>
    <dgm:cxn modelId="{D9A6C6ED-F531-7C4F-91B6-7B1BC389F3F2}" type="presParOf" srcId="{AED8FD3E-3571-3745-BAA0-7A6D24E32189}" destId="{C61BBFAF-E813-2C4A-A8D1-D9AD0B398020}" srcOrd="3" destOrd="0" presId="urn:microsoft.com/office/officeart/2005/8/layout/matrix1"/>
    <dgm:cxn modelId="{A10A3EB0-0987-8B44-B929-EED723F60F4E}" type="presParOf" srcId="{AED8FD3E-3571-3745-BAA0-7A6D24E32189}" destId="{7A287DCA-3C34-EE4F-A48A-E038CD978B93}" srcOrd="4" destOrd="0" presId="urn:microsoft.com/office/officeart/2005/8/layout/matrix1"/>
    <dgm:cxn modelId="{0989956E-9D76-C74A-B1C7-CDD8CC126A17}" type="presParOf" srcId="{AED8FD3E-3571-3745-BAA0-7A6D24E32189}" destId="{3395447E-1945-C746-AFAB-E2D8AB5CA685}" srcOrd="5" destOrd="0" presId="urn:microsoft.com/office/officeart/2005/8/layout/matrix1"/>
    <dgm:cxn modelId="{36DBE8F8-5295-6F4B-90D8-288A8CD2675E}" type="presParOf" srcId="{AED8FD3E-3571-3745-BAA0-7A6D24E32189}" destId="{F9E5A0C8-108C-2840-B1C0-CA6EE65D9B89}" srcOrd="6" destOrd="0" presId="urn:microsoft.com/office/officeart/2005/8/layout/matrix1"/>
    <dgm:cxn modelId="{39205F80-FA55-694E-B7EF-E1EA8AB685BD}" type="presParOf" srcId="{AED8FD3E-3571-3745-BAA0-7A6D24E32189}" destId="{3DA325A7-88E7-B844-8AF0-48F59FD21DA1}" srcOrd="7" destOrd="0" presId="urn:microsoft.com/office/officeart/2005/8/layout/matrix1"/>
    <dgm:cxn modelId="{57057661-6D4C-9044-8647-C41B1193938D}" type="presParOf" srcId="{B0031DFF-2A42-2F4E-8142-B610BA2BD65C}" destId="{620C3139-1BF1-6A46-B392-B4E573053F30}"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2A1584-AA74-6048-9CFD-549C2339B2C3}">
      <dsp:nvSpPr>
        <dsp:cNvPr id="0" name=""/>
        <dsp:cNvSpPr/>
      </dsp:nvSpPr>
      <dsp:spPr>
        <a:xfrm rot="16200000">
          <a:off x="1151334" y="-1151334"/>
          <a:ext cx="2533650" cy="4836318"/>
        </a:xfrm>
        <a:prstGeom prst="round1Rect">
          <a:avLst/>
        </a:prstGeom>
        <a:solidFill>
          <a:srgbClr val="1BD76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Font typeface="Arial" panose="020B0604020202020204" pitchFamily="34" charset="0"/>
            <a:buNone/>
          </a:pPr>
          <a:r>
            <a:rPr lang="en-US" sz="2400" b="1" i="0" kern="1200">
              <a:solidFill>
                <a:schemeClr val="bg2"/>
              </a:solidFill>
              <a:effectLst/>
            </a:rPr>
            <a:t>Accuracy: </a:t>
          </a:r>
        </a:p>
        <a:p>
          <a:pPr marL="0" lvl="0" indent="0" algn="ctr" defTabSz="1066800">
            <a:lnSpc>
              <a:spcPct val="90000"/>
            </a:lnSpc>
            <a:spcBef>
              <a:spcPct val="0"/>
            </a:spcBef>
            <a:spcAft>
              <a:spcPct val="35000"/>
            </a:spcAft>
            <a:buFont typeface="Arial" panose="020B0604020202020204" pitchFamily="34" charset="0"/>
            <a:buNone/>
          </a:pPr>
          <a:r>
            <a:rPr lang="en-US" sz="1900" b="0" i="0" kern="1200">
              <a:solidFill>
                <a:schemeClr val="bg2"/>
              </a:solidFill>
              <a:effectLst/>
            </a:rPr>
            <a:t>65.2%, but the model struggles with identifying high-streaming success songs, as shown by precision and recall of 0 for high streaming.</a:t>
          </a:r>
          <a:endParaRPr lang="en-US" sz="1900" kern="1200">
            <a:solidFill>
              <a:schemeClr val="bg2"/>
            </a:solidFill>
          </a:endParaRPr>
        </a:p>
      </dsp:txBody>
      <dsp:txXfrm rot="5400000">
        <a:off x="0" y="0"/>
        <a:ext cx="4836318" cy="1900237"/>
      </dsp:txXfrm>
    </dsp:sp>
    <dsp:sp modelId="{46C6E9B8-88FC-9541-83E5-35D86FE3546D}">
      <dsp:nvSpPr>
        <dsp:cNvPr id="0" name=""/>
        <dsp:cNvSpPr/>
      </dsp:nvSpPr>
      <dsp:spPr>
        <a:xfrm>
          <a:off x="4836318" y="0"/>
          <a:ext cx="4836318" cy="2533650"/>
        </a:xfrm>
        <a:prstGeom prst="round1Rect">
          <a:avLst/>
        </a:prstGeom>
        <a:solidFill>
          <a:srgbClr val="1BD76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Font typeface="Arial" panose="020B0604020202020204" pitchFamily="34" charset="0"/>
            <a:buNone/>
          </a:pPr>
          <a:r>
            <a:rPr lang="en-US" sz="2400" b="1" kern="1200">
              <a:solidFill>
                <a:schemeClr val="bg2"/>
              </a:solidFill>
            </a:rPr>
            <a:t>Class Imbalance: </a:t>
          </a:r>
        </a:p>
        <a:p>
          <a:pPr marL="0" lvl="0" indent="0" algn="ctr" defTabSz="1066800">
            <a:lnSpc>
              <a:spcPct val="90000"/>
            </a:lnSpc>
            <a:spcBef>
              <a:spcPct val="0"/>
            </a:spcBef>
            <a:spcAft>
              <a:spcPct val="35000"/>
            </a:spcAft>
            <a:buFont typeface="Arial" panose="020B0604020202020204" pitchFamily="34" charset="0"/>
            <a:buNone/>
          </a:pPr>
          <a:r>
            <a:rPr lang="en-US" sz="1900" b="0" i="0" kern="1200">
              <a:solidFill>
                <a:schemeClr val="bg2"/>
              </a:solidFill>
              <a:effectLst/>
            </a:rPr>
            <a:t>The model is biased towards predicting low streaming success (class 0), as indicated by a recall of 98% for class 0, while it fails to predict high streaming success.</a:t>
          </a:r>
          <a:endParaRPr lang="en-US" sz="1900" kern="1200">
            <a:solidFill>
              <a:schemeClr val="bg2"/>
            </a:solidFill>
          </a:endParaRPr>
        </a:p>
      </dsp:txBody>
      <dsp:txXfrm>
        <a:off x="4836318" y="0"/>
        <a:ext cx="4836318" cy="1900237"/>
      </dsp:txXfrm>
    </dsp:sp>
    <dsp:sp modelId="{7A287DCA-3C34-EE4F-A48A-E038CD978B93}">
      <dsp:nvSpPr>
        <dsp:cNvPr id="0" name=""/>
        <dsp:cNvSpPr/>
      </dsp:nvSpPr>
      <dsp:spPr>
        <a:xfrm rot="10800000">
          <a:off x="0" y="2533650"/>
          <a:ext cx="4836318" cy="2533650"/>
        </a:xfrm>
        <a:prstGeom prst="round1Rect">
          <a:avLst/>
        </a:prstGeom>
        <a:solidFill>
          <a:srgbClr val="1BD76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Font typeface="Arial" panose="020B0604020202020204" pitchFamily="34" charset="0"/>
            <a:buNone/>
          </a:pPr>
          <a:r>
            <a:rPr lang="en-US" sz="2400" b="1" kern="1200">
              <a:solidFill>
                <a:schemeClr val="bg2"/>
              </a:solidFill>
            </a:rPr>
            <a:t>Positive Keywords for High Streaming:</a:t>
          </a:r>
        </a:p>
        <a:p>
          <a:pPr marL="0" lvl="0" indent="0" algn="ctr" defTabSz="1066800">
            <a:lnSpc>
              <a:spcPct val="90000"/>
            </a:lnSpc>
            <a:spcBef>
              <a:spcPct val="0"/>
            </a:spcBef>
            <a:spcAft>
              <a:spcPct val="35000"/>
            </a:spcAft>
            <a:buFont typeface="Arial" panose="020B0604020202020204" pitchFamily="34" charset="0"/>
            <a:buNone/>
          </a:pPr>
          <a:r>
            <a:rPr lang="en-US" sz="2400" b="1" kern="1200">
              <a:solidFill>
                <a:schemeClr val="bg2"/>
              </a:solidFill>
            </a:rPr>
            <a:t> </a:t>
          </a:r>
          <a:r>
            <a:rPr lang="en-US" sz="1900" b="0" i="0" kern="1200">
              <a:solidFill>
                <a:schemeClr val="bg2"/>
              </a:solidFill>
              <a:effectLst/>
            </a:rPr>
            <a:t>Keywords like "dark," "summer," "remix," and "levitating" are positively associated with high streaming success, suggesting themes of energy, vibe, and popular trends.</a:t>
          </a:r>
          <a:endParaRPr lang="en-US" sz="1900" kern="1200">
            <a:solidFill>
              <a:schemeClr val="bg2"/>
            </a:solidFill>
          </a:endParaRPr>
        </a:p>
      </dsp:txBody>
      <dsp:txXfrm rot="10800000">
        <a:off x="0" y="3167062"/>
        <a:ext cx="4836318" cy="1900237"/>
      </dsp:txXfrm>
    </dsp:sp>
    <dsp:sp modelId="{F9E5A0C8-108C-2840-B1C0-CA6EE65D9B89}">
      <dsp:nvSpPr>
        <dsp:cNvPr id="0" name=""/>
        <dsp:cNvSpPr/>
      </dsp:nvSpPr>
      <dsp:spPr>
        <a:xfrm rot="5400000">
          <a:off x="5987653" y="1382315"/>
          <a:ext cx="2533650" cy="4836318"/>
        </a:xfrm>
        <a:prstGeom prst="round1Rect">
          <a:avLst/>
        </a:prstGeom>
        <a:solidFill>
          <a:srgbClr val="1BD76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Font typeface="Arial" panose="020B0604020202020204" pitchFamily="34" charset="0"/>
            <a:buNone/>
          </a:pPr>
          <a:r>
            <a:rPr lang="en-US" sz="2400" b="1" kern="1200">
              <a:solidFill>
                <a:schemeClr val="bg2"/>
              </a:solidFill>
            </a:rPr>
            <a:t>Negative Keywords for Low Streaming: </a:t>
          </a:r>
        </a:p>
        <a:p>
          <a:pPr marL="0" lvl="0" indent="0" algn="ctr" defTabSz="1066800">
            <a:lnSpc>
              <a:spcPct val="90000"/>
            </a:lnSpc>
            <a:spcBef>
              <a:spcPct val="0"/>
            </a:spcBef>
            <a:spcAft>
              <a:spcPct val="35000"/>
            </a:spcAft>
            <a:buFont typeface="Arial" panose="020B0604020202020204" pitchFamily="34" charset="0"/>
            <a:buNone/>
          </a:pPr>
          <a:r>
            <a:rPr lang="en-US" sz="2000" b="0" i="0" kern="1200">
              <a:solidFill>
                <a:schemeClr val="bg2"/>
              </a:solidFill>
              <a:effectLst/>
            </a:rPr>
            <a:t>Keywords like as "feels," "thought," "baby," and "crazy" correlate with low streaming success, potentially reflecting less popular or niche themes.</a:t>
          </a:r>
          <a:endParaRPr lang="en-US" sz="2000" kern="1200">
            <a:solidFill>
              <a:schemeClr val="bg2"/>
            </a:solidFill>
          </a:endParaRPr>
        </a:p>
      </dsp:txBody>
      <dsp:txXfrm rot="-5400000">
        <a:off x="4836319" y="3167061"/>
        <a:ext cx="4836318" cy="1900237"/>
      </dsp:txXfrm>
    </dsp:sp>
    <dsp:sp modelId="{620C3139-1BF1-6A46-B392-B4E573053F30}">
      <dsp:nvSpPr>
        <dsp:cNvPr id="0" name=""/>
        <dsp:cNvSpPr/>
      </dsp:nvSpPr>
      <dsp:spPr>
        <a:xfrm>
          <a:off x="4178323" y="2268864"/>
          <a:ext cx="1315991" cy="529570"/>
        </a:xfrm>
        <a:prstGeom prst="roundRect">
          <a:avLst/>
        </a:prstGeom>
        <a:solidFill>
          <a:schemeClr val="bg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solidFill>
                <a:schemeClr val="tx1"/>
              </a:solidFill>
            </a:rPr>
            <a:t>Results</a:t>
          </a:r>
        </a:p>
      </dsp:txBody>
      <dsp:txXfrm>
        <a:off x="4204174" y="2294715"/>
        <a:ext cx="1264289" cy="477868"/>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34274F-091F-434F-8968-6C6965E5187E}" type="datetimeFigureOut">
              <a:rPr lang="en-US" smtClean="0"/>
              <a:t>12/3/24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9A64A2-7024-424F-B946-D5CE9DA19999}" type="slidenum">
              <a:rPr lang="en-US" smtClean="0"/>
              <a:t>‹#›</a:t>
            </a:fld>
            <a:endParaRPr lang="en-US"/>
          </a:p>
        </p:txBody>
      </p:sp>
    </p:spTree>
    <p:extLst>
      <p:ext uri="{BB962C8B-B14F-4D97-AF65-F5344CB8AC3E}">
        <p14:creationId xmlns:p14="http://schemas.microsoft.com/office/powerpoint/2010/main" val="1185538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Spotify with revenue growing year-over-year and a massive user base, it’s important to understand what drives streaming success is more important than ever. Our project is to uncover the characteristics of songs that consistently perform well based on the features</a:t>
            </a:r>
          </a:p>
        </p:txBody>
      </p:sp>
      <p:sp>
        <p:nvSpPr>
          <p:cNvPr id="4" name="Slide Number Placeholder 3"/>
          <p:cNvSpPr>
            <a:spLocks noGrp="1"/>
          </p:cNvSpPr>
          <p:nvPr>
            <p:ph type="sldNum" sz="quarter" idx="5"/>
          </p:nvPr>
        </p:nvSpPr>
        <p:spPr/>
        <p:txBody>
          <a:bodyPr/>
          <a:lstStyle/>
          <a:p>
            <a:fld id="{139A64A2-7024-424F-B946-D5CE9DA19999}" type="slidenum">
              <a:rPr lang="en-US" smtClean="0"/>
              <a:t>2</a:t>
            </a:fld>
            <a:endParaRPr lang="en-US"/>
          </a:p>
        </p:txBody>
      </p:sp>
    </p:spTree>
    <p:extLst>
      <p:ext uri="{BB962C8B-B14F-4D97-AF65-F5344CB8AC3E}">
        <p14:creationId xmlns:p14="http://schemas.microsoft.com/office/powerpoint/2010/main" val="3054838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the visualizations we found a slight negative correlation between BPM and danceability. Songs with BPM between 60-100 generally have higher danceability. Songs from the 1930s – 1950s consistently had high </a:t>
            </a:r>
            <a:r>
              <a:rPr lang="en-US" err="1"/>
              <a:t>acousticness</a:t>
            </a:r>
            <a:r>
              <a:rPr lang="en-US"/>
              <a:t> values, but show sharp decline from 1960s – 1970s. Modern songs have lower </a:t>
            </a:r>
            <a:r>
              <a:rPr lang="en-US" err="1"/>
              <a:t>acousticness</a:t>
            </a:r>
            <a:r>
              <a:rPr lang="en-US"/>
              <a:t> reflecting diverse production trends.</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C7994650-4486-44D9-9BCF-C65B6B977E64}" type="slidenum">
              <a:t>3</a:t>
            </a:fld>
            <a:endParaRPr lang="en-US"/>
          </a:p>
        </p:txBody>
      </p:sp>
    </p:spTree>
    <p:extLst>
      <p:ext uri="{BB962C8B-B14F-4D97-AF65-F5344CB8AC3E}">
        <p14:creationId xmlns:p14="http://schemas.microsoft.com/office/powerpoint/2010/main" val="236606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Worked with 924 songs and 24 features including both </a:t>
            </a:r>
            <a:r>
              <a:rPr lang="en-US" err="1">
                <a:latin typeface="Calibri"/>
                <a:ea typeface="Calibri"/>
                <a:cs typeface="Calibri"/>
              </a:rPr>
              <a:t>numerial</a:t>
            </a:r>
            <a:r>
              <a:rPr lang="en-US">
                <a:latin typeface="Calibri"/>
                <a:ea typeface="Calibri"/>
                <a:cs typeface="Calibri"/>
              </a:rPr>
              <a:t> and categorical data. We </a:t>
            </a:r>
            <a:r>
              <a:rPr lang="en-US"/>
              <a:t>normalized features, addressed missing values, and selected impactful attributes like playlist presence while excluding less relevant features like cover URLs.</a:t>
            </a:r>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139A64A2-7024-424F-B946-D5CE9DA19999}" type="slidenum">
              <a:rPr lang="en-US" smtClean="0"/>
              <a:t>4</a:t>
            </a:fld>
            <a:endParaRPr lang="en-US"/>
          </a:p>
        </p:txBody>
      </p:sp>
    </p:spTree>
    <p:extLst>
      <p:ext uri="{BB962C8B-B14F-4D97-AF65-F5344CB8AC3E}">
        <p14:creationId xmlns:p14="http://schemas.microsoft.com/office/powerpoint/2010/main" val="10335445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Linear regression shows 74.4% of the variance in streaming numbers is explained by the model's predictors and the model is statistically significant with 127.2 F-statistic score. Significant predictors include '</a:t>
            </a:r>
            <a:r>
              <a:rPr lang="en-US" err="1"/>
              <a:t>in_spotify_playlists</a:t>
            </a:r>
            <a:r>
              <a:rPr lang="en-US"/>
              <a:t>' , '</a:t>
            </a:r>
            <a:r>
              <a:rPr lang="en-US" err="1"/>
              <a:t>in_apple_playlists</a:t>
            </a:r>
            <a:r>
              <a:rPr lang="en-US"/>
              <a:t>' and '</a:t>
            </a:r>
            <a:r>
              <a:rPr lang="en-US" err="1"/>
              <a:t>released_year</a:t>
            </a:r>
            <a:r>
              <a:rPr lang="en-US"/>
              <a:t>,' showing these factors heavily influence streams. </a:t>
            </a:r>
          </a:p>
        </p:txBody>
      </p:sp>
      <p:sp>
        <p:nvSpPr>
          <p:cNvPr id="4" name="Slide Number Placeholder 3"/>
          <p:cNvSpPr>
            <a:spLocks noGrp="1"/>
          </p:cNvSpPr>
          <p:nvPr>
            <p:ph type="sldNum" sz="quarter" idx="5"/>
          </p:nvPr>
        </p:nvSpPr>
        <p:spPr/>
        <p:txBody>
          <a:bodyPr/>
          <a:lstStyle/>
          <a:p>
            <a:fld id="{139A64A2-7024-424F-B946-D5CE9DA19999}" type="slidenum">
              <a:rPr lang="en-US" smtClean="0"/>
              <a:t>5</a:t>
            </a:fld>
            <a:endParaRPr lang="en-US"/>
          </a:p>
        </p:txBody>
      </p:sp>
    </p:spTree>
    <p:extLst>
      <p:ext uri="{BB962C8B-B14F-4D97-AF65-F5344CB8AC3E}">
        <p14:creationId xmlns:p14="http://schemas.microsoft.com/office/powerpoint/2010/main" val="38113568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We compared the actual and predicted streaming success for this model, all the blue points lie directly on the red line indicate that the model accurately predicted all instances in this dataset. I</a:t>
            </a:r>
            <a:r>
              <a:rPr lang="en-US"/>
              <a:t>t’s also important to consider potential class imbalance in the dataset, which could affect the model’s ability to generalize.</a:t>
            </a:r>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139A64A2-7024-424F-B946-D5CE9DA19999}" type="slidenum">
              <a:rPr lang="en-US" smtClean="0"/>
              <a:t>6</a:t>
            </a:fld>
            <a:endParaRPr lang="en-US"/>
          </a:p>
        </p:txBody>
      </p:sp>
    </p:spTree>
    <p:extLst>
      <p:ext uri="{BB962C8B-B14F-4D97-AF65-F5344CB8AC3E}">
        <p14:creationId xmlns:p14="http://schemas.microsoft.com/office/powerpoint/2010/main" val="320190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classifies songs into high or low streaming categories. However, there was a significant class imbalance</a:t>
            </a:r>
          </a:p>
          <a:p>
            <a:endParaRPr lang="en-US" dirty="0"/>
          </a:p>
          <a:p>
            <a:endParaRPr lang="en-US" dirty="0"/>
          </a:p>
          <a:p>
            <a:r>
              <a:rPr lang="en-US" dirty="0"/>
              <a:t>features_1 = ['</a:t>
            </a:r>
            <a:r>
              <a:rPr lang="en-US" dirty="0" err="1"/>
              <a:t>artist_count</a:t>
            </a:r>
            <a:r>
              <a:rPr lang="en-US" dirty="0"/>
              <a:t>', '</a:t>
            </a:r>
            <a:r>
              <a:rPr lang="en-US" dirty="0" err="1"/>
              <a:t>released_year</a:t>
            </a:r>
            <a:r>
              <a:rPr lang="en-US" dirty="0"/>
              <a:t>', 'bpm']  </a:t>
            </a:r>
          </a:p>
          <a:p>
            <a:r>
              <a:rPr lang="en-US" dirty="0"/>
              <a:t>features_2 = ['</a:t>
            </a:r>
            <a:r>
              <a:rPr lang="en-US" dirty="0" err="1"/>
              <a:t>released_month</a:t>
            </a:r>
            <a:r>
              <a:rPr lang="en-US" dirty="0"/>
              <a:t>', 'danceability_%', 'energy_%']  </a:t>
            </a:r>
          </a:p>
          <a:p>
            <a:r>
              <a:rPr lang="en-US" dirty="0"/>
              <a:t>features_3 = ['</a:t>
            </a:r>
            <a:r>
              <a:rPr lang="en-US" dirty="0" err="1"/>
              <a:t>in_spotify_playlists</a:t>
            </a:r>
            <a:r>
              <a:rPr lang="en-US" dirty="0"/>
              <a:t>', '</a:t>
            </a:r>
            <a:r>
              <a:rPr lang="en-US" dirty="0" err="1"/>
              <a:t>in_spotify_charts</a:t>
            </a:r>
            <a:r>
              <a:rPr lang="en-US" dirty="0"/>
              <a:t>', 'valence_%'] </a:t>
            </a:r>
          </a:p>
        </p:txBody>
      </p:sp>
      <p:sp>
        <p:nvSpPr>
          <p:cNvPr id="4" name="Slide Number Placeholder 3"/>
          <p:cNvSpPr>
            <a:spLocks noGrp="1"/>
          </p:cNvSpPr>
          <p:nvPr>
            <p:ph type="sldNum" sz="quarter" idx="5"/>
          </p:nvPr>
        </p:nvSpPr>
        <p:spPr/>
        <p:txBody>
          <a:bodyPr/>
          <a:lstStyle/>
          <a:p>
            <a:fld id="{139A64A2-7024-424F-B946-D5CE9DA19999}" type="slidenum">
              <a:rPr lang="en-US" smtClean="0"/>
              <a:t>7</a:t>
            </a:fld>
            <a:endParaRPr lang="en-US"/>
          </a:p>
        </p:txBody>
      </p:sp>
    </p:spTree>
    <p:extLst>
      <p:ext uri="{BB962C8B-B14F-4D97-AF65-F5344CB8AC3E}">
        <p14:creationId xmlns:p14="http://schemas.microsoft.com/office/powerpoint/2010/main" val="13343108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D785E-C576-E22D-5B6A-3D633A146D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9EEE02-DF5A-1365-90B8-B8910DFDB9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A92190-A1B5-0F43-2FD6-1C6B44EF2879}"/>
              </a:ext>
            </a:extLst>
          </p:cNvPr>
          <p:cNvSpPr>
            <a:spLocks noGrp="1"/>
          </p:cNvSpPr>
          <p:nvPr>
            <p:ph type="body" idx="1"/>
          </p:nvPr>
        </p:nvSpPr>
        <p:spPr/>
        <p:txBody>
          <a:bodyPr/>
          <a:lstStyle/>
          <a:p>
            <a:r>
              <a:rPr lang="en-US"/>
              <a:t>Initially, the model struggled with class imbalance with poor performance for high streaming predictions: precision was 0.34, and the overall accuracy was just 50%. After applying class weighting, shown on the right, accuracy improved to 78.65%, and precision for high streaming increased to 0.71, with a better F1-score of 0.61."</a:t>
            </a:r>
          </a:p>
        </p:txBody>
      </p:sp>
      <p:sp>
        <p:nvSpPr>
          <p:cNvPr id="4" name="Slide Number Placeholder 3">
            <a:extLst>
              <a:ext uri="{FF2B5EF4-FFF2-40B4-BE49-F238E27FC236}">
                <a16:creationId xmlns:a16="http://schemas.microsoft.com/office/drawing/2014/main" id="{322EC8A2-96D0-BB73-7EB8-07E682822A3A}"/>
              </a:ext>
            </a:extLst>
          </p:cNvPr>
          <p:cNvSpPr>
            <a:spLocks noGrp="1"/>
          </p:cNvSpPr>
          <p:nvPr>
            <p:ph type="sldNum" sz="quarter" idx="5"/>
          </p:nvPr>
        </p:nvSpPr>
        <p:spPr/>
        <p:txBody>
          <a:bodyPr/>
          <a:lstStyle/>
          <a:p>
            <a:fld id="{139A64A2-7024-424F-B946-D5CE9DA19999}" type="slidenum">
              <a:rPr lang="en-US" smtClean="0"/>
              <a:t>8</a:t>
            </a:fld>
            <a:endParaRPr lang="en-US"/>
          </a:p>
        </p:txBody>
      </p:sp>
    </p:spTree>
    <p:extLst>
      <p:ext uri="{BB962C8B-B14F-4D97-AF65-F5344CB8AC3E}">
        <p14:creationId xmlns:p14="http://schemas.microsoft.com/office/powerpoint/2010/main" val="1635172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9A64A2-7024-424F-B946-D5CE9DA19999}" type="slidenum">
              <a:rPr lang="en-US" smtClean="0"/>
              <a:t>9</a:t>
            </a:fld>
            <a:endParaRPr lang="en-US"/>
          </a:p>
        </p:txBody>
      </p:sp>
    </p:spTree>
    <p:extLst>
      <p:ext uri="{BB962C8B-B14F-4D97-AF65-F5344CB8AC3E}">
        <p14:creationId xmlns:p14="http://schemas.microsoft.com/office/powerpoint/2010/main" val="32429923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Bag of Words model analyzes lyrics to identify keywords associated with streaming success. Positive keywords like 'dark,' 'remix,' and 'summer' correlate with high streaming success, while 'baby' and 'thought' correlate with low success.</a:t>
            </a:r>
          </a:p>
        </p:txBody>
      </p:sp>
      <p:sp>
        <p:nvSpPr>
          <p:cNvPr id="4" name="Slide Number Placeholder 3"/>
          <p:cNvSpPr>
            <a:spLocks noGrp="1"/>
          </p:cNvSpPr>
          <p:nvPr>
            <p:ph type="sldNum" sz="quarter" idx="5"/>
          </p:nvPr>
        </p:nvSpPr>
        <p:spPr/>
        <p:txBody>
          <a:bodyPr/>
          <a:lstStyle/>
          <a:p>
            <a:fld id="{139A64A2-7024-424F-B946-D5CE9DA19999}" type="slidenum">
              <a:rPr lang="en-US" smtClean="0"/>
              <a:t>10</a:t>
            </a:fld>
            <a:endParaRPr lang="en-US"/>
          </a:p>
        </p:txBody>
      </p:sp>
    </p:spTree>
    <p:extLst>
      <p:ext uri="{BB962C8B-B14F-4D97-AF65-F5344CB8AC3E}">
        <p14:creationId xmlns:p14="http://schemas.microsoft.com/office/powerpoint/2010/main" val="3731395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6FC62-194A-0E59-50E6-D6CA88EBFC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BC8E2ED-4656-923F-72C2-7654174602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45AE1D-620C-2E50-4E97-CDC2E9FBCB7C}"/>
              </a:ext>
            </a:extLst>
          </p:cNvPr>
          <p:cNvSpPr>
            <a:spLocks noGrp="1"/>
          </p:cNvSpPr>
          <p:nvPr>
            <p:ph type="dt" sz="half" idx="10"/>
          </p:nvPr>
        </p:nvSpPr>
        <p:spPr/>
        <p:txBody>
          <a:bodyPr/>
          <a:lstStyle/>
          <a:p>
            <a:fld id="{9990D182-7F52-5A4F-81FB-1B9D2934AB8C}" type="datetimeFigureOut">
              <a:rPr lang="en-US" smtClean="0"/>
              <a:t>12/3/24</a:t>
            </a:fld>
            <a:endParaRPr lang="en-US"/>
          </a:p>
        </p:txBody>
      </p:sp>
      <p:sp>
        <p:nvSpPr>
          <p:cNvPr id="5" name="Footer Placeholder 4">
            <a:extLst>
              <a:ext uri="{FF2B5EF4-FFF2-40B4-BE49-F238E27FC236}">
                <a16:creationId xmlns:a16="http://schemas.microsoft.com/office/drawing/2014/main" id="{EDE8B86A-E43E-89B2-74BE-20C3B7AC79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F60AED-1F16-7B02-02AA-4B0449D58F2A}"/>
              </a:ext>
            </a:extLst>
          </p:cNvPr>
          <p:cNvSpPr>
            <a:spLocks noGrp="1"/>
          </p:cNvSpPr>
          <p:nvPr>
            <p:ph type="sldNum" sz="quarter" idx="12"/>
          </p:nvPr>
        </p:nvSpPr>
        <p:spPr/>
        <p:txBody>
          <a:bodyPr/>
          <a:lstStyle/>
          <a:p>
            <a:fld id="{ED9A3543-F518-0B49-9A31-13CA885EA601}" type="slidenum">
              <a:rPr lang="en-US" smtClean="0"/>
              <a:t>‹#›</a:t>
            </a:fld>
            <a:endParaRPr lang="en-US"/>
          </a:p>
        </p:txBody>
      </p:sp>
    </p:spTree>
    <p:extLst>
      <p:ext uri="{BB962C8B-B14F-4D97-AF65-F5344CB8AC3E}">
        <p14:creationId xmlns:p14="http://schemas.microsoft.com/office/powerpoint/2010/main" val="1306939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E52DB-45AB-29A9-B65E-B0543819BD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6FA408-5E23-B6BC-C8D8-BDF097439A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EF0D01-E5BE-3A02-6988-F63B63F7C3B5}"/>
              </a:ext>
            </a:extLst>
          </p:cNvPr>
          <p:cNvSpPr>
            <a:spLocks noGrp="1"/>
          </p:cNvSpPr>
          <p:nvPr>
            <p:ph type="dt" sz="half" idx="10"/>
          </p:nvPr>
        </p:nvSpPr>
        <p:spPr/>
        <p:txBody>
          <a:bodyPr/>
          <a:lstStyle/>
          <a:p>
            <a:fld id="{9990D182-7F52-5A4F-81FB-1B9D2934AB8C}" type="datetimeFigureOut">
              <a:rPr lang="en-US" smtClean="0"/>
              <a:t>12/3/24</a:t>
            </a:fld>
            <a:endParaRPr lang="en-US"/>
          </a:p>
        </p:txBody>
      </p:sp>
      <p:sp>
        <p:nvSpPr>
          <p:cNvPr id="5" name="Footer Placeholder 4">
            <a:extLst>
              <a:ext uri="{FF2B5EF4-FFF2-40B4-BE49-F238E27FC236}">
                <a16:creationId xmlns:a16="http://schemas.microsoft.com/office/drawing/2014/main" id="{9E8170DC-C612-2164-01EF-1FD5444C4E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AE8E74-D0B5-CFAC-C77A-10760A6FAC1B}"/>
              </a:ext>
            </a:extLst>
          </p:cNvPr>
          <p:cNvSpPr>
            <a:spLocks noGrp="1"/>
          </p:cNvSpPr>
          <p:nvPr>
            <p:ph type="sldNum" sz="quarter" idx="12"/>
          </p:nvPr>
        </p:nvSpPr>
        <p:spPr/>
        <p:txBody>
          <a:bodyPr/>
          <a:lstStyle/>
          <a:p>
            <a:fld id="{ED9A3543-F518-0B49-9A31-13CA885EA601}" type="slidenum">
              <a:rPr lang="en-US" smtClean="0"/>
              <a:t>‹#›</a:t>
            </a:fld>
            <a:endParaRPr lang="en-US"/>
          </a:p>
        </p:txBody>
      </p:sp>
    </p:spTree>
    <p:extLst>
      <p:ext uri="{BB962C8B-B14F-4D97-AF65-F5344CB8AC3E}">
        <p14:creationId xmlns:p14="http://schemas.microsoft.com/office/powerpoint/2010/main" val="1626207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DC718-3844-39A7-EEBD-C6494EB034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6A55AA8-ED1F-E084-D5EE-59E2AC3BCFF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DAD6FA-2187-C3FA-56C0-3C7D230B57F3}"/>
              </a:ext>
            </a:extLst>
          </p:cNvPr>
          <p:cNvSpPr>
            <a:spLocks noGrp="1"/>
          </p:cNvSpPr>
          <p:nvPr>
            <p:ph type="dt" sz="half" idx="10"/>
          </p:nvPr>
        </p:nvSpPr>
        <p:spPr/>
        <p:txBody>
          <a:bodyPr/>
          <a:lstStyle/>
          <a:p>
            <a:fld id="{9990D182-7F52-5A4F-81FB-1B9D2934AB8C}" type="datetimeFigureOut">
              <a:rPr lang="en-US" smtClean="0"/>
              <a:t>12/3/24</a:t>
            </a:fld>
            <a:endParaRPr lang="en-US"/>
          </a:p>
        </p:txBody>
      </p:sp>
      <p:sp>
        <p:nvSpPr>
          <p:cNvPr id="5" name="Footer Placeholder 4">
            <a:extLst>
              <a:ext uri="{FF2B5EF4-FFF2-40B4-BE49-F238E27FC236}">
                <a16:creationId xmlns:a16="http://schemas.microsoft.com/office/drawing/2014/main" id="{42F8543E-F251-7A75-DAA2-A6451F7F71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F1F188-DD72-B13D-6140-A7F0449074EE}"/>
              </a:ext>
            </a:extLst>
          </p:cNvPr>
          <p:cNvSpPr>
            <a:spLocks noGrp="1"/>
          </p:cNvSpPr>
          <p:nvPr>
            <p:ph type="sldNum" sz="quarter" idx="12"/>
          </p:nvPr>
        </p:nvSpPr>
        <p:spPr/>
        <p:txBody>
          <a:bodyPr/>
          <a:lstStyle/>
          <a:p>
            <a:fld id="{ED9A3543-F518-0B49-9A31-13CA885EA601}" type="slidenum">
              <a:rPr lang="en-US" smtClean="0"/>
              <a:t>‹#›</a:t>
            </a:fld>
            <a:endParaRPr lang="en-US"/>
          </a:p>
        </p:txBody>
      </p:sp>
    </p:spTree>
    <p:extLst>
      <p:ext uri="{BB962C8B-B14F-4D97-AF65-F5344CB8AC3E}">
        <p14:creationId xmlns:p14="http://schemas.microsoft.com/office/powerpoint/2010/main" val="3996527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83F15-04BA-45D2-4E54-C5814A6776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DE0700-F139-0C00-721C-2B201D62BC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8F6AC6A-E7F9-B6F0-A04B-595DF079DC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53A661-682A-66E0-B12A-778DD8C10487}"/>
              </a:ext>
            </a:extLst>
          </p:cNvPr>
          <p:cNvSpPr>
            <a:spLocks noGrp="1"/>
          </p:cNvSpPr>
          <p:nvPr>
            <p:ph type="dt" sz="half" idx="10"/>
          </p:nvPr>
        </p:nvSpPr>
        <p:spPr/>
        <p:txBody>
          <a:bodyPr/>
          <a:lstStyle/>
          <a:p>
            <a:fld id="{9990D182-7F52-5A4F-81FB-1B9D2934AB8C}" type="datetimeFigureOut">
              <a:rPr lang="en-US" smtClean="0"/>
              <a:t>12/3/24</a:t>
            </a:fld>
            <a:endParaRPr lang="en-US"/>
          </a:p>
        </p:txBody>
      </p:sp>
      <p:sp>
        <p:nvSpPr>
          <p:cNvPr id="6" name="Footer Placeholder 5">
            <a:extLst>
              <a:ext uri="{FF2B5EF4-FFF2-40B4-BE49-F238E27FC236}">
                <a16:creationId xmlns:a16="http://schemas.microsoft.com/office/drawing/2014/main" id="{523EF280-8466-CCD0-E8E8-ABC96D1F34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F21F9A-A88B-9644-0B1D-B9C4586D7248}"/>
              </a:ext>
            </a:extLst>
          </p:cNvPr>
          <p:cNvSpPr>
            <a:spLocks noGrp="1"/>
          </p:cNvSpPr>
          <p:nvPr>
            <p:ph type="sldNum" sz="quarter" idx="12"/>
          </p:nvPr>
        </p:nvSpPr>
        <p:spPr/>
        <p:txBody>
          <a:bodyPr/>
          <a:lstStyle/>
          <a:p>
            <a:fld id="{ED9A3543-F518-0B49-9A31-13CA885EA601}" type="slidenum">
              <a:rPr lang="en-US" smtClean="0"/>
              <a:t>‹#›</a:t>
            </a:fld>
            <a:endParaRPr lang="en-US"/>
          </a:p>
        </p:txBody>
      </p:sp>
    </p:spTree>
    <p:extLst>
      <p:ext uri="{BB962C8B-B14F-4D97-AF65-F5344CB8AC3E}">
        <p14:creationId xmlns:p14="http://schemas.microsoft.com/office/powerpoint/2010/main" val="248798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7A9E6-E731-47A8-5183-A15FDE55756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512EA3-904C-A8B1-C43A-5B085C6378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EA374F-10EB-730A-8AB2-464CDA4C3E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E06131C-6BB3-5795-1818-DFA016E0BE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86B573-4A57-413A-29C7-5601C7854E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D5D6802-960C-6632-97B6-CCA03089254C}"/>
              </a:ext>
            </a:extLst>
          </p:cNvPr>
          <p:cNvSpPr>
            <a:spLocks noGrp="1"/>
          </p:cNvSpPr>
          <p:nvPr>
            <p:ph type="dt" sz="half" idx="10"/>
          </p:nvPr>
        </p:nvSpPr>
        <p:spPr/>
        <p:txBody>
          <a:bodyPr/>
          <a:lstStyle/>
          <a:p>
            <a:fld id="{9990D182-7F52-5A4F-81FB-1B9D2934AB8C}" type="datetimeFigureOut">
              <a:rPr lang="en-US" smtClean="0"/>
              <a:t>12/3/24</a:t>
            </a:fld>
            <a:endParaRPr lang="en-US"/>
          </a:p>
        </p:txBody>
      </p:sp>
      <p:sp>
        <p:nvSpPr>
          <p:cNvPr id="8" name="Footer Placeholder 7">
            <a:extLst>
              <a:ext uri="{FF2B5EF4-FFF2-40B4-BE49-F238E27FC236}">
                <a16:creationId xmlns:a16="http://schemas.microsoft.com/office/drawing/2014/main" id="{C132C5D9-CBE3-65E3-66E9-D46DE1D866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F8170CC-5F55-9A21-3BB9-E6792A9B6BE9}"/>
              </a:ext>
            </a:extLst>
          </p:cNvPr>
          <p:cNvSpPr>
            <a:spLocks noGrp="1"/>
          </p:cNvSpPr>
          <p:nvPr>
            <p:ph type="sldNum" sz="quarter" idx="12"/>
          </p:nvPr>
        </p:nvSpPr>
        <p:spPr/>
        <p:txBody>
          <a:bodyPr/>
          <a:lstStyle/>
          <a:p>
            <a:fld id="{ED9A3543-F518-0B49-9A31-13CA885EA601}" type="slidenum">
              <a:rPr lang="en-US" smtClean="0"/>
              <a:t>‹#›</a:t>
            </a:fld>
            <a:endParaRPr lang="en-US"/>
          </a:p>
        </p:txBody>
      </p:sp>
    </p:spTree>
    <p:extLst>
      <p:ext uri="{BB962C8B-B14F-4D97-AF65-F5344CB8AC3E}">
        <p14:creationId xmlns:p14="http://schemas.microsoft.com/office/powerpoint/2010/main" val="1254449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5A060-37FC-28F3-1D21-E105FE9A91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C0347F7-8B7A-1602-57F9-9E4FFF499F31}"/>
              </a:ext>
            </a:extLst>
          </p:cNvPr>
          <p:cNvSpPr>
            <a:spLocks noGrp="1"/>
          </p:cNvSpPr>
          <p:nvPr>
            <p:ph type="dt" sz="half" idx="10"/>
          </p:nvPr>
        </p:nvSpPr>
        <p:spPr/>
        <p:txBody>
          <a:bodyPr/>
          <a:lstStyle/>
          <a:p>
            <a:fld id="{9990D182-7F52-5A4F-81FB-1B9D2934AB8C}" type="datetimeFigureOut">
              <a:rPr lang="en-US" smtClean="0"/>
              <a:t>12/3/24</a:t>
            </a:fld>
            <a:endParaRPr lang="en-US"/>
          </a:p>
        </p:txBody>
      </p:sp>
      <p:sp>
        <p:nvSpPr>
          <p:cNvPr id="4" name="Footer Placeholder 3">
            <a:extLst>
              <a:ext uri="{FF2B5EF4-FFF2-40B4-BE49-F238E27FC236}">
                <a16:creationId xmlns:a16="http://schemas.microsoft.com/office/drawing/2014/main" id="{583466C5-75A6-472F-09C7-37E01E606BB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1B50F9-D6A4-3D29-6734-4556399EAC01}"/>
              </a:ext>
            </a:extLst>
          </p:cNvPr>
          <p:cNvSpPr>
            <a:spLocks noGrp="1"/>
          </p:cNvSpPr>
          <p:nvPr>
            <p:ph type="sldNum" sz="quarter" idx="12"/>
          </p:nvPr>
        </p:nvSpPr>
        <p:spPr/>
        <p:txBody>
          <a:bodyPr/>
          <a:lstStyle/>
          <a:p>
            <a:fld id="{ED9A3543-F518-0B49-9A31-13CA885EA601}" type="slidenum">
              <a:rPr lang="en-US" smtClean="0"/>
              <a:t>‹#›</a:t>
            </a:fld>
            <a:endParaRPr lang="en-US"/>
          </a:p>
        </p:txBody>
      </p:sp>
    </p:spTree>
    <p:extLst>
      <p:ext uri="{BB962C8B-B14F-4D97-AF65-F5344CB8AC3E}">
        <p14:creationId xmlns:p14="http://schemas.microsoft.com/office/powerpoint/2010/main" val="2033715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9D577A-1BD4-2368-6AE2-890FB8E2420B}"/>
              </a:ext>
            </a:extLst>
          </p:cNvPr>
          <p:cNvSpPr>
            <a:spLocks noGrp="1"/>
          </p:cNvSpPr>
          <p:nvPr>
            <p:ph type="dt" sz="half" idx="10"/>
          </p:nvPr>
        </p:nvSpPr>
        <p:spPr/>
        <p:txBody>
          <a:bodyPr/>
          <a:lstStyle/>
          <a:p>
            <a:fld id="{9990D182-7F52-5A4F-81FB-1B9D2934AB8C}" type="datetimeFigureOut">
              <a:rPr lang="en-US" smtClean="0"/>
              <a:t>12/3/24</a:t>
            </a:fld>
            <a:endParaRPr lang="en-US"/>
          </a:p>
        </p:txBody>
      </p:sp>
      <p:sp>
        <p:nvSpPr>
          <p:cNvPr id="3" name="Footer Placeholder 2">
            <a:extLst>
              <a:ext uri="{FF2B5EF4-FFF2-40B4-BE49-F238E27FC236}">
                <a16:creationId xmlns:a16="http://schemas.microsoft.com/office/drawing/2014/main" id="{DFDB9D76-0F2B-F338-8578-40CAF024AA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DCD5F9-5C04-98E2-83E7-D0567C7DFB45}"/>
              </a:ext>
            </a:extLst>
          </p:cNvPr>
          <p:cNvSpPr>
            <a:spLocks noGrp="1"/>
          </p:cNvSpPr>
          <p:nvPr>
            <p:ph type="sldNum" sz="quarter" idx="12"/>
          </p:nvPr>
        </p:nvSpPr>
        <p:spPr/>
        <p:txBody>
          <a:bodyPr/>
          <a:lstStyle/>
          <a:p>
            <a:fld id="{ED9A3543-F518-0B49-9A31-13CA885EA601}" type="slidenum">
              <a:rPr lang="en-US" smtClean="0"/>
              <a:t>‹#›</a:t>
            </a:fld>
            <a:endParaRPr lang="en-US"/>
          </a:p>
        </p:txBody>
      </p:sp>
    </p:spTree>
    <p:extLst>
      <p:ext uri="{BB962C8B-B14F-4D97-AF65-F5344CB8AC3E}">
        <p14:creationId xmlns:p14="http://schemas.microsoft.com/office/powerpoint/2010/main" val="2489965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8FF8A-144B-CED2-C6F8-44849F5736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4EC37A-4436-D74C-C05F-96AD91FC63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768AD32-B744-469D-C7ED-9F2B26371D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C452C4-7F5B-FF8C-359E-ACFED80D7E3B}"/>
              </a:ext>
            </a:extLst>
          </p:cNvPr>
          <p:cNvSpPr>
            <a:spLocks noGrp="1"/>
          </p:cNvSpPr>
          <p:nvPr>
            <p:ph type="dt" sz="half" idx="10"/>
          </p:nvPr>
        </p:nvSpPr>
        <p:spPr/>
        <p:txBody>
          <a:bodyPr/>
          <a:lstStyle/>
          <a:p>
            <a:fld id="{9990D182-7F52-5A4F-81FB-1B9D2934AB8C}" type="datetimeFigureOut">
              <a:rPr lang="en-US" smtClean="0"/>
              <a:t>12/3/24</a:t>
            </a:fld>
            <a:endParaRPr lang="en-US"/>
          </a:p>
        </p:txBody>
      </p:sp>
      <p:sp>
        <p:nvSpPr>
          <p:cNvPr id="6" name="Footer Placeholder 5">
            <a:extLst>
              <a:ext uri="{FF2B5EF4-FFF2-40B4-BE49-F238E27FC236}">
                <a16:creationId xmlns:a16="http://schemas.microsoft.com/office/drawing/2014/main" id="{59A13A1F-F09F-C17F-5D1F-340A63B877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3E5191-BFBC-DE1D-B1BD-A374473BE8AA}"/>
              </a:ext>
            </a:extLst>
          </p:cNvPr>
          <p:cNvSpPr>
            <a:spLocks noGrp="1"/>
          </p:cNvSpPr>
          <p:nvPr>
            <p:ph type="sldNum" sz="quarter" idx="12"/>
          </p:nvPr>
        </p:nvSpPr>
        <p:spPr/>
        <p:txBody>
          <a:bodyPr/>
          <a:lstStyle/>
          <a:p>
            <a:fld id="{ED9A3543-F518-0B49-9A31-13CA885EA601}" type="slidenum">
              <a:rPr lang="en-US" smtClean="0"/>
              <a:t>‹#›</a:t>
            </a:fld>
            <a:endParaRPr lang="en-US"/>
          </a:p>
        </p:txBody>
      </p:sp>
    </p:spTree>
    <p:extLst>
      <p:ext uri="{BB962C8B-B14F-4D97-AF65-F5344CB8AC3E}">
        <p14:creationId xmlns:p14="http://schemas.microsoft.com/office/powerpoint/2010/main" val="5938762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A8A8E-2490-C7D0-C068-A5C7227122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1F347A-FC9C-BD88-7DD6-0DFA81D5DE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2749014-D0A4-D95C-56C9-6784038DC0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8FBF9F-7447-5F76-60D6-5CFDC63AF092}"/>
              </a:ext>
            </a:extLst>
          </p:cNvPr>
          <p:cNvSpPr>
            <a:spLocks noGrp="1"/>
          </p:cNvSpPr>
          <p:nvPr>
            <p:ph type="dt" sz="half" idx="10"/>
          </p:nvPr>
        </p:nvSpPr>
        <p:spPr/>
        <p:txBody>
          <a:bodyPr/>
          <a:lstStyle/>
          <a:p>
            <a:fld id="{9990D182-7F52-5A4F-81FB-1B9D2934AB8C}" type="datetimeFigureOut">
              <a:rPr lang="en-US" smtClean="0"/>
              <a:t>12/3/24</a:t>
            </a:fld>
            <a:endParaRPr lang="en-US"/>
          </a:p>
        </p:txBody>
      </p:sp>
      <p:sp>
        <p:nvSpPr>
          <p:cNvPr id="6" name="Footer Placeholder 5">
            <a:extLst>
              <a:ext uri="{FF2B5EF4-FFF2-40B4-BE49-F238E27FC236}">
                <a16:creationId xmlns:a16="http://schemas.microsoft.com/office/drawing/2014/main" id="{E4F2244A-1DB1-CD34-D182-1D53B6594F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70981E-77B4-48DB-61EE-548CF6538DA6}"/>
              </a:ext>
            </a:extLst>
          </p:cNvPr>
          <p:cNvSpPr>
            <a:spLocks noGrp="1"/>
          </p:cNvSpPr>
          <p:nvPr>
            <p:ph type="sldNum" sz="quarter" idx="12"/>
          </p:nvPr>
        </p:nvSpPr>
        <p:spPr/>
        <p:txBody>
          <a:bodyPr/>
          <a:lstStyle/>
          <a:p>
            <a:fld id="{ED9A3543-F518-0B49-9A31-13CA885EA601}" type="slidenum">
              <a:rPr lang="en-US" smtClean="0"/>
              <a:t>‹#›</a:t>
            </a:fld>
            <a:endParaRPr lang="en-US"/>
          </a:p>
        </p:txBody>
      </p:sp>
    </p:spTree>
    <p:extLst>
      <p:ext uri="{BB962C8B-B14F-4D97-AF65-F5344CB8AC3E}">
        <p14:creationId xmlns:p14="http://schemas.microsoft.com/office/powerpoint/2010/main" val="987619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98153-BA59-6219-01AB-5D58A6D8CF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A92D6C7-4BFA-3399-649C-8DD340E0EA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55A409-5F72-BFDE-F679-8017941B2CB2}"/>
              </a:ext>
            </a:extLst>
          </p:cNvPr>
          <p:cNvSpPr>
            <a:spLocks noGrp="1"/>
          </p:cNvSpPr>
          <p:nvPr>
            <p:ph type="dt" sz="half" idx="10"/>
          </p:nvPr>
        </p:nvSpPr>
        <p:spPr/>
        <p:txBody>
          <a:bodyPr/>
          <a:lstStyle/>
          <a:p>
            <a:fld id="{9990D182-7F52-5A4F-81FB-1B9D2934AB8C}" type="datetimeFigureOut">
              <a:rPr lang="en-US" smtClean="0"/>
              <a:t>12/3/24</a:t>
            </a:fld>
            <a:endParaRPr lang="en-US"/>
          </a:p>
        </p:txBody>
      </p:sp>
      <p:sp>
        <p:nvSpPr>
          <p:cNvPr id="5" name="Footer Placeholder 4">
            <a:extLst>
              <a:ext uri="{FF2B5EF4-FFF2-40B4-BE49-F238E27FC236}">
                <a16:creationId xmlns:a16="http://schemas.microsoft.com/office/drawing/2014/main" id="{BA4C1C71-D313-4761-B4B6-598187133E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F9A388-7DDB-EB23-7DB3-818DCEFB9E05}"/>
              </a:ext>
            </a:extLst>
          </p:cNvPr>
          <p:cNvSpPr>
            <a:spLocks noGrp="1"/>
          </p:cNvSpPr>
          <p:nvPr>
            <p:ph type="sldNum" sz="quarter" idx="12"/>
          </p:nvPr>
        </p:nvSpPr>
        <p:spPr/>
        <p:txBody>
          <a:bodyPr/>
          <a:lstStyle/>
          <a:p>
            <a:fld id="{ED9A3543-F518-0B49-9A31-13CA885EA601}" type="slidenum">
              <a:rPr lang="en-US" smtClean="0"/>
              <a:t>‹#›</a:t>
            </a:fld>
            <a:endParaRPr lang="en-US"/>
          </a:p>
        </p:txBody>
      </p:sp>
    </p:spTree>
    <p:extLst>
      <p:ext uri="{BB962C8B-B14F-4D97-AF65-F5344CB8AC3E}">
        <p14:creationId xmlns:p14="http://schemas.microsoft.com/office/powerpoint/2010/main" val="3622349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12B0E6-A402-0086-E001-8225E25864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F8D6CB-739E-16DA-9770-B7F0E0E9EF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C036CD-9114-3A11-0CCB-2D2E4D1799DE}"/>
              </a:ext>
            </a:extLst>
          </p:cNvPr>
          <p:cNvSpPr>
            <a:spLocks noGrp="1"/>
          </p:cNvSpPr>
          <p:nvPr>
            <p:ph type="dt" sz="half" idx="10"/>
          </p:nvPr>
        </p:nvSpPr>
        <p:spPr/>
        <p:txBody>
          <a:bodyPr/>
          <a:lstStyle/>
          <a:p>
            <a:fld id="{9990D182-7F52-5A4F-81FB-1B9D2934AB8C}" type="datetimeFigureOut">
              <a:rPr lang="en-US" smtClean="0"/>
              <a:t>12/3/24</a:t>
            </a:fld>
            <a:endParaRPr lang="en-US"/>
          </a:p>
        </p:txBody>
      </p:sp>
      <p:sp>
        <p:nvSpPr>
          <p:cNvPr id="5" name="Footer Placeholder 4">
            <a:extLst>
              <a:ext uri="{FF2B5EF4-FFF2-40B4-BE49-F238E27FC236}">
                <a16:creationId xmlns:a16="http://schemas.microsoft.com/office/drawing/2014/main" id="{18E6CC21-B4EB-DC3E-1619-52738D6A04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4E7EB1-6975-210A-7653-6F9998DBE816}"/>
              </a:ext>
            </a:extLst>
          </p:cNvPr>
          <p:cNvSpPr>
            <a:spLocks noGrp="1"/>
          </p:cNvSpPr>
          <p:nvPr>
            <p:ph type="sldNum" sz="quarter" idx="12"/>
          </p:nvPr>
        </p:nvSpPr>
        <p:spPr/>
        <p:txBody>
          <a:bodyPr/>
          <a:lstStyle/>
          <a:p>
            <a:fld id="{ED9A3543-F518-0B49-9A31-13CA885EA601}" type="slidenum">
              <a:rPr lang="en-US" smtClean="0"/>
              <a:t>‹#›</a:t>
            </a:fld>
            <a:endParaRPr lang="en-US"/>
          </a:p>
        </p:txBody>
      </p:sp>
    </p:spTree>
    <p:extLst>
      <p:ext uri="{BB962C8B-B14F-4D97-AF65-F5344CB8AC3E}">
        <p14:creationId xmlns:p14="http://schemas.microsoft.com/office/powerpoint/2010/main" val="1640570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515C25-29AE-8A85-6A35-69666CD064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655A8AD-41E5-3C35-55D4-F11C01FB59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611D69-EB85-5F01-940E-5B2EB2E7FF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990D182-7F52-5A4F-81FB-1B9D2934AB8C}" type="datetimeFigureOut">
              <a:rPr lang="en-US" smtClean="0"/>
              <a:t>12/3/24</a:t>
            </a:fld>
            <a:endParaRPr lang="en-US"/>
          </a:p>
        </p:txBody>
      </p:sp>
      <p:sp>
        <p:nvSpPr>
          <p:cNvPr id="5" name="Footer Placeholder 4">
            <a:extLst>
              <a:ext uri="{FF2B5EF4-FFF2-40B4-BE49-F238E27FC236}">
                <a16:creationId xmlns:a16="http://schemas.microsoft.com/office/drawing/2014/main" id="{8E4BAF20-68F8-01DF-6878-BA2EC3D838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D3B96FE-A122-E06E-9FB2-0B2E2CF888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D9A3543-F518-0B49-9A31-13CA885EA601}" type="slidenum">
              <a:rPr lang="en-US" smtClean="0"/>
              <a:t>‹#›</a:t>
            </a:fld>
            <a:endParaRPr lang="en-US"/>
          </a:p>
        </p:txBody>
      </p:sp>
    </p:spTree>
    <p:extLst>
      <p:ext uri="{BB962C8B-B14F-4D97-AF65-F5344CB8AC3E}">
        <p14:creationId xmlns:p14="http://schemas.microsoft.com/office/powerpoint/2010/main" val="15927854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hyperlink" Target="https://www.demandsage.com/spotify-stats/#:~:text=Spotify%20lets%20you%20discover%2C%20organize,premium%20subscribers%20across%20184%20regions" TargetMode="External"/><Relationship Id="rId2" Type="http://schemas.openxmlformats.org/officeDocument/2006/relationships/hyperlink" Target="https://www.businessofapps.com/data/spotify-statistic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8933C-5DAA-28EB-B55D-066D150DD1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90DD5E-864C-F28A-53B6-E7C0953F92B4}"/>
              </a:ext>
            </a:extLst>
          </p:cNvPr>
          <p:cNvSpPr>
            <a:spLocks noGrp="1"/>
          </p:cNvSpPr>
          <p:nvPr>
            <p:ph type="ctrTitle"/>
          </p:nvPr>
        </p:nvSpPr>
        <p:spPr>
          <a:xfrm>
            <a:off x="223837" y="2088040"/>
            <a:ext cx="11744325" cy="806450"/>
          </a:xfrm>
        </p:spPr>
        <p:txBody>
          <a:bodyPr>
            <a:noAutofit/>
          </a:bodyPr>
          <a:lstStyle/>
          <a:p>
            <a:r>
              <a:rPr lang="en-US" sz="4000" b="1">
                <a:solidFill>
                  <a:srgbClr val="1BD760"/>
                </a:solidFill>
              </a:rPr>
              <a:t>Predicting Spotify Song Streaming Success</a:t>
            </a:r>
            <a:endParaRPr lang="en-US" sz="4000"/>
          </a:p>
        </p:txBody>
      </p:sp>
      <p:sp>
        <p:nvSpPr>
          <p:cNvPr id="3" name="Subtitle 2">
            <a:extLst>
              <a:ext uri="{FF2B5EF4-FFF2-40B4-BE49-F238E27FC236}">
                <a16:creationId xmlns:a16="http://schemas.microsoft.com/office/drawing/2014/main" id="{A205E614-1620-4F6E-2129-09D21C8A8322}"/>
              </a:ext>
            </a:extLst>
          </p:cNvPr>
          <p:cNvSpPr>
            <a:spLocks noGrp="1"/>
          </p:cNvSpPr>
          <p:nvPr>
            <p:ph type="subTitle" idx="1"/>
          </p:nvPr>
        </p:nvSpPr>
        <p:spPr>
          <a:xfrm>
            <a:off x="1409700" y="3804921"/>
            <a:ext cx="9144000" cy="1014412"/>
          </a:xfrm>
        </p:spPr>
        <p:txBody>
          <a:bodyPr>
            <a:normAutofit/>
          </a:bodyPr>
          <a:lstStyle/>
          <a:p>
            <a:r>
              <a:rPr lang="en-US" sz="1800">
                <a:solidFill>
                  <a:srgbClr val="1BD760"/>
                </a:solidFill>
                <a:latin typeface="Times New Roman" panose="02020603050405020304" pitchFamily="18" charset="0"/>
                <a:cs typeface="Times New Roman" panose="02020603050405020304" pitchFamily="18" charset="0"/>
              </a:rPr>
              <a:t>COSC 5931</a:t>
            </a:r>
          </a:p>
          <a:p>
            <a:r>
              <a:rPr lang="en-US" sz="1800">
                <a:solidFill>
                  <a:srgbClr val="1BD760"/>
                </a:solidFill>
                <a:latin typeface="Times New Roman" panose="02020603050405020304" pitchFamily="18" charset="0"/>
                <a:cs typeface="Times New Roman" panose="02020603050405020304" pitchFamily="18" charset="0"/>
              </a:rPr>
              <a:t>Kayley Reith &amp; Violet Wang</a:t>
            </a:r>
          </a:p>
        </p:txBody>
      </p:sp>
      <p:pic>
        <p:nvPicPr>
          <p:cNvPr id="1026" name="Picture 2" descr="Logo and Brand Assets — Spotify">
            <a:extLst>
              <a:ext uri="{FF2B5EF4-FFF2-40B4-BE49-F238E27FC236}">
                <a16:creationId xmlns:a16="http://schemas.microsoft.com/office/drawing/2014/main" id="{0C9C371D-A673-FCA5-8C37-2E497A5EE16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12" t="36022" r="1547" b="34513"/>
          <a:stretch/>
        </p:blipFill>
        <p:spPr bwMode="auto">
          <a:xfrm>
            <a:off x="1089660" y="4819333"/>
            <a:ext cx="9692640" cy="1655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0688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01B92-4799-E3A8-BDAA-EE74EB0696EE}"/>
              </a:ext>
            </a:extLst>
          </p:cNvPr>
          <p:cNvSpPr>
            <a:spLocks noGrp="1"/>
          </p:cNvSpPr>
          <p:nvPr>
            <p:ph type="title"/>
          </p:nvPr>
        </p:nvSpPr>
        <p:spPr>
          <a:xfrm>
            <a:off x="538162" y="307976"/>
            <a:ext cx="10515600" cy="863600"/>
          </a:xfrm>
        </p:spPr>
        <p:txBody>
          <a:bodyPr/>
          <a:lstStyle/>
          <a:p>
            <a:r>
              <a:rPr lang="en-US" b="1">
                <a:solidFill>
                  <a:srgbClr val="1BD760"/>
                </a:solidFill>
              </a:rPr>
              <a:t>Magnitude of Problem</a:t>
            </a:r>
          </a:p>
        </p:txBody>
      </p:sp>
      <p:sp>
        <p:nvSpPr>
          <p:cNvPr id="3" name="TextBox 2">
            <a:extLst>
              <a:ext uri="{FF2B5EF4-FFF2-40B4-BE49-F238E27FC236}">
                <a16:creationId xmlns:a16="http://schemas.microsoft.com/office/drawing/2014/main" id="{6670EBF2-7CD9-D832-C0A8-E84CBB7C91E0}"/>
              </a:ext>
            </a:extLst>
          </p:cNvPr>
          <p:cNvSpPr txBox="1"/>
          <p:nvPr/>
        </p:nvSpPr>
        <p:spPr>
          <a:xfrm>
            <a:off x="871536" y="1614488"/>
            <a:ext cx="8729663" cy="2523768"/>
          </a:xfrm>
          <a:prstGeom prst="rect">
            <a:avLst/>
          </a:prstGeom>
          <a:noFill/>
        </p:spPr>
        <p:txBody>
          <a:bodyPr wrap="square" rtlCol="0">
            <a:spAutoFit/>
          </a:bodyPr>
          <a:lstStyle/>
          <a:p>
            <a:pPr marL="285750" indent="-285750">
              <a:buFont typeface="Arial" panose="020B0604020202020204" pitchFamily="34" charset="0"/>
              <a:buChar char="•"/>
            </a:pPr>
            <a:r>
              <a:rPr lang="en-US" sz="2800" b="1" i="0">
                <a:solidFill>
                  <a:srgbClr val="1BD760"/>
                </a:solidFill>
                <a:effectLst/>
                <a:latin typeface="Bricolage Grotesque"/>
              </a:rPr>
              <a:t>$14.69 billion </a:t>
            </a:r>
            <a:r>
              <a:rPr lang="en-US" sz="2800" b="0" i="0">
                <a:solidFill>
                  <a:srgbClr val="000000"/>
                </a:solidFill>
                <a:effectLst/>
                <a:latin typeface="Bricolage Grotesque"/>
              </a:rPr>
              <a:t>in revenue in 2023 (</a:t>
            </a:r>
            <a:r>
              <a:rPr lang="en-US" sz="2800"/>
              <a:t>Iqbal 2023</a:t>
            </a:r>
            <a:r>
              <a:rPr lang="en-US" sz="2800" b="0" i="0">
                <a:solidFill>
                  <a:srgbClr val="000000"/>
                </a:solidFill>
                <a:effectLst/>
                <a:latin typeface="Bricolage Grotesque"/>
              </a:rPr>
              <a:t>)</a:t>
            </a:r>
          </a:p>
          <a:p>
            <a:endParaRPr lang="en-US" sz="2800" b="0" i="0">
              <a:solidFill>
                <a:srgbClr val="000000"/>
              </a:solidFill>
              <a:effectLst/>
              <a:latin typeface="Bricolage Grotesque"/>
            </a:endParaRPr>
          </a:p>
          <a:p>
            <a:pPr marL="285750" indent="-285750">
              <a:buFont typeface="Arial" panose="020B0604020202020204" pitchFamily="34" charset="0"/>
              <a:buChar char="•"/>
            </a:pPr>
            <a:r>
              <a:rPr lang="en-US" sz="2800" b="0" i="0">
                <a:solidFill>
                  <a:srgbClr val="000000"/>
                </a:solidFill>
                <a:effectLst/>
                <a:latin typeface="Bricolage Grotesque"/>
              </a:rPr>
              <a:t>12.9% increase year-on-year (</a:t>
            </a:r>
            <a:r>
              <a:rPr lang="en-US" sz="2800"/>
              <a:t>Iqbal 2023)</a:t>
            </a:r>
          </a:p>
          <a:p>
            <a:endParaRPr lang="en-US" sz="2800"/>
          </a:p>
          <a:p>
            <a:pPr marL="285750" indent="-285750">
              <a:buFont typeface="Arial" panose="020B0604020202020204" pitchFamily="34" charset="0"/>
              <a:buChar char="•"/>
            </a:pPr>
            <a:r>
              <a:rPr lang="en-US" sz="2800" b="1" i="0">
                <a:solidFill>
                  <a:srgbClr val="1BD760"/>
                </a:solidFill>
                <a:effectLst/>
                <a:latin typeface="Google Sans"/>
              </a:rPr>
              <a:t>626 million </a:t>
            </a:r>
            <a:r>
              <a:rPr lang="en-US" sz="2800" b="0" i="0">
                <a:solidFill>
                  <a:srgbClr val="040C28"/>
                </a:solidFill>
                <a:effectLst/>
                <a:latin typeface="Google Sans"/>
              </a:rPr>
              <a:t>monthly active users</a:t>
            </a:r>
            <a:r>
              <a:rPr lang="en-US" sz="2800" b="0" i="0">
                <a:solidFill>
                  <a:srgbClr val="1F1F1F"/>
                </a:solidFill>
                <a:effectLst/>
                <a:latin typeface="Google Sans"/>
              </a:rPr>
              <a:t> (Singh 2024)</a:t>
            </a:r>
            <a:endParaRPr lang="en-US" sz="2800" b="0" i="0">
              <a:solidFill>
                <a:srgbClr val="000000"/>
              </a:solidFill>
              <a:effectLst/>
              <a:latin typeface="Bricolage Grotesque"/>
            </a:endParaRPr>
          </a:p>
          <a:p>
            <a:pPr marL="285750" indent="-285750">
              <a:buFont typeface="Arial" panose="020B0604020202020204" pitchFamily="34" charset="0"/>
              <a:buChar char="•"/>
            </a:pPr>
            <a:endParaRPr lang="en-US"/>
          </a:p>
        </p:txBody>
      </p:sp>
      <p:sp>
        <p:nvSpPr>
          <p:cNvPr id="5" name="TextBox 4">
            <a:extLst>
              <a:ext uri="{FF2B5EF4-FFF2-40B4-BE49-F238E27FC236}">
                <a16:creationId xmlns:a16="http://schemas.microsoft.com/office/drawing/2014/main" id="{31AF3BC1-03D5-EAD2-0DC2-F0E2527E68F4}"/>
              </a:ext>
            </a:extLst>
          </p:cNvPr>
          <p:cNvSpPr txBox="1"/>
          <p:nvPr/>
        </p:nvSpPr>
        <p:spPr>
          <a:xfrm>
            <a:off x="538161" y="4601646"/>
            <a:ext cx="10848977" cy="1384995"/>
          </a:xfrm>
          <a:prstGeom prst="rect">
            <a:avLst/>
          </a:prstGeom>
          <a:noFill/>
        </p:spPr>
        <p:txBody>
          <a:bodyPr wrap="square">
            <a:spAutoFit/>
          </a:bodyPr>
          <a:lstStyle/>
          <a:p>
            <a:r>
              <a:rPr lang="en-US" sz="2800" b="1">
                <a:solidFill>
                  <a:srgbClr val="1BD760"/>
                </a:solidFill>
              </a:rPr>
              <a:t>Project Goal: </a:t>
            </a:r>
            <a:r>
              <a:rPr lang="en-US" sz="2800">
                <a:solidFill>
                  <a:srgbClr val="000000"/>
                </a:solidFill>
                <a:latin typeface="Times New Roman" panose="02020603050405020304" pitchFamily="18" charset="0"/>
              </a:rPr>
              <a:t>D</a:t>
            </a:r>
            <a:r>
              <a:rPr lang="en-US" sz="2800" b="0" i="0" u="none" strike="noStrike">
                <a:solidFill>
                  <a:srgbClr val="000000"/>
                </a:solidFill>
                <a:effectLst/>
                <a:latin typeface="Times New Roman" panose="02020603050405020304" pitchFamily="18" charset="0"/>
              </a:rPr>
              <a:t>evelop a predictive model that identifies the characteristics of songs likely to achieve high streaming numbers based on their features</a:t>
            </a:r>
            <a:endParaRPr lang="en-US" sz="2800"/>
          </a:p>
        </p:txBody>
      </p:sp>
    </p:spTree>
    <p:extLst>
      <p:ext uri="{BB962C8B-B14F-4D97-AF65-F5344CB8AC3E}">
        <p14:creationId xmlns:p14="http://schemas.microsoft.com/office/powerpoint/2010/main" val="2168535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85D22-671A-104D-B710-F67BD3ED28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76CD6E-0B2D-BFA2-A627-E09D618E2764}"/>
              </a:ext>
            </a:extLst>
          </p:cNvPr>
          <p:cNvSpPr>
            <a:spLocks noGrp="1"/>
          </p:cNvSpPr>
          <p:nvPr>
            <p:ph type="title"/>
          </p:nvPr>
        </p:nvSpPr>
        <p:spPr>
          <a:xfrm>
            <a:off x="180975" y="-127795"/>
            <a:ext cx="10515600" cy="1325563"/>
          </a:xfrm>
        </p:spPr>
        <p:txBody>
          <a:bodyPr/>
          <a:lstStyle/>
          <a:p>
            <a:r>
              <a:rPr lang="en-US" b="1">
                <a:solidFill>
                  <a:srgbClr val="1BD760"/>
                </a:solidFill>
              </a:rPr>
              <a:t>Exploratory Data Visualizations</a:t>
            </a:r>
            <a:endParaRPr lang="en-US"/>
          </a:p>
        </p:txBody>
      </p:sp>
      <p:pic>
        <p:nvPicPr>
          <p:cNvPr id="6" name="Picture 5" descr="A diagram of a red line&#10;&#10;Description automatically generated">
            <a:extLst>
              <a:ext uri="{FF2B5EF4-FFF2-40B4-BE49-F238E27FC236}">
                <a16:creationId xmlns:a16="http://schemas.microsoft.com/office/drawing/2014/main" id="{F8A7CEB5-000D-B548-F6F5-E07EDE8BC826}"/>
              </a:ext>
            </a:extLst>
          </p:cNvPr>
          <p:cNvPicPr>
            <a:picLocks noChangeAspect="1"/>
          </p:cNvPicPr>
          <p:nvPr/>
        </p:nvPicPr>
        <p:blipFill>
          <a:blip r:embed="rId3"/>
          <a:stretch>
            <a:fillRect/>
          </a:stretch>
        </p:blipFill>
        <p:spPr>
          <a:xfrm>
            <a:off x="-1863" y="1725593"/>
            <a:ext cx="5845566" cy="3750830"/>
          </a:xfrm>
          <a:prstGeom prst="rect">
            <a:avLst/>
          </a:prstGeom>
        </p:spPr>
      </p:pic>
      <p:pic>
        <p:nvPicPr>
          <p:cNvPr id="4" name="Picture 3" descr="A diagram of a distribution of acousciness&#10;&#10;Description automatically generated with medium confidence">
            <a:extLst>
              <a:ext uri="{FF2B5EF4-FFF2-40B4-BE49-F238E27FC236}">
                <a16:creationId xmlns:a16="http://schemas.microsoft.com/office/drawing/2014/main" id="{9D7C3A82-7A87-2949-9DB9-A97D08ED36E6}"/>
              </a:ext>
            </a:extLst>
          </p:cNvPr>
          <p:cNvPicPr>
            <a:picLocks noChangeAspect="1"/>
          </p:cNvPicPr>
          <p:nvPr/>
        </p:nvPicPr>
        <p:blipFill>
          <a:blip r:embed="rId4"/>
          <a:stretch>
            <a:fillRect/>
          </a:stretch>
        </p:blipFill>
        <p:spPr>
          <a:xfrm>
            <a:off x="6014378" y="1713660"/>
            <a:ext cx="6078569" cy="3750334"/>
          </a:xfrm>
          <a:prstGeom prst="rect">
            <a:avLst/>
          </a:prstGeom>
        </p:spPr>
      </p:pic>
    </p:spTree>
    <p:extLst>
      <p:ext uri="{BB962C8B-B14F-4D97-AF65-F5344CB8AC3E}">
        <p14:creationId xmlns:p14="http://schemas.microsoft.com/office/powerpoint/2010/main" val="632124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C3475-6142-998D-1547-E9EBF0153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136253-5171-DF8D-003D-19AAF0B79096}"/>
              </a:ext>
            </a:extLst>
          </p:cNvPr>
          <p:cNvSpPr>
            <a:spLocks noGrp="1"/>
          </p:cNvSpPr>
          <p:nvPr>
            <p:ph type="title"/>
          </p:nvPr>
        </p:nvSpPr>
        <p:spPr>
          <a:xfrm>
            <a:off x="309562" y="-20638"/>
            <a:ext cx="10515600" cy="1325563"/>
          </a:xfrm>
        </p:spPr>
        <p:txBody>
          <a:bodyPr/>
          <a:lstStyle/>
          <a:p>
            <a:r>
              <a:rPr lang="en-US" b="1">
                <a:solidFill>
                  <a:srgbClr val="1BD760"/>
                </a:solidFill>
              </a:rPr>
              <a:t>Data Preprocessing</a:t>
            </a:r>
            <a:endParaRPr lang="en-US"/>
          </a:p>
        </p:txBody>
      </p:sp>
      <p:sp>
        <p:nvSpPr>
          <p:cNvPr id="3" name="TextBox 2">
            <a:extLst>
              <a:ext uri="{FF2B5EF4-FFF2-40B4-BE49-F238E27FC236}">
                <a16:creationId xmlns:a16="http://schemas.microsoft.com/office/drawing/2014/main" id="{1F613AA3-65E5-D826-D006-A5E79C324DFF}"/>
              </a:ext>
            </a:extLst>
          </p:cNvPr>
          <p:cNvSpPr txBox="1"/>
          <p:nvPr/>
        </p:nvSpPr>
        <p:spPr>
          <a:xfrm>
            <a:off x="309562" y="1672160"/>
            <a:ext cx="5014913" cy="4862870"/>
          </a:xfrm>
          <a:prstGeom prst="rect">
            <a:avLst/>
          </a:prstGeom>
          <a:noFill/>
        </p:spPr>
        <p:txBody>
          <a:bodyPr wrap="square" rtlCol="0">
            <a:spAutoFit/>
          </a:bodyPr>
          <a:lstStyle/>
          <a:p>
            <a:pPr marL="914400" rtl="0" fontAlgn="base">
              <a:spcBef>
                <a:spcPts val="1200"/>
              </a:spcBef>
              <a:spcAft>
                <a:spcPts val="1200"/>
              </a:spcAft>
              <a:buFont typeface="Arial" panose="020B0604020202020204" pitchFamily="34" charset="0"/>
              <a:buChar char="•"/>
            </a:pPr>
            <a:r>
              <a:rPr lang="en-US" sz="2000" b="0" i="0" u="none" strike="noStrike">
                <a:solidFill>
                  <a:srgbClr val="000000"/>
                </a:solidFill>
                <a:effectLst/>
              </a:rPr>
              <a:t>Observations: 924 songs </a:t>
            </a:r>
          </a:p>
          <a:p>
            <a:pPr marL="914400" rtl="0" fontAlgn="base">
              <a:spcBef>
                <a:spcPts val="1200"/>
              </a:spcBef>
              <a:spcAft>
                <a:spcPts val="1200"/>
              </a:spcAft>
              <a:buFont typeface="Arial" panose="020B0604020202020204" pitchFamily="34" charset="0"/>
              <a:buChar char="•"/>
            </a:pPr>
            <a:r>
              <a:rPr lang="en-US" sz="2000">
                <a:solidFill>
                  <a:srgbClr val="000000"/>
                </a:solidFill>
              </a:rPr>
              <a:t>Features: 24</a:t>
            </a:r>
          </a:p>
          <a:p>
            <a:pPr marL="914400" rtl="0" fontAlgn="base">
              <a:spcBef>
                <a:spcPts val="1200"/>
              </a:spcBef>
              <a:spcAft>
                <a:spcPts val="1200"/>
              </a:spcAft>
              <a:buFont typeface="Arial" panose="020B0604020202020204" pitchFamily="34" charset="0"/>
              <a:buChar char="•"/>
            </a:pPr>
            <a:r>
              <a:rPr lang="en-US" sz="2000" b="0" i="0" u="none" strike="noStrike">
                <a:solidFill>
                  <a:srgbClr val="000000"/>
                </a:solidFill>
                <a:effectLst/>
              </a:rPr>
              <a:t>Numerical &amp; Categorical Data</a:t>
            </a:r>
          </a:p>
          <a:p>
            <a:pPr marL="914400" rtl="0" fontAlgn="base">
              <a:spcBef>
                <a:spcPts val="1200"/>
              </a:spcBef>
              <a:spcAft>
                <a:spcPts val="1200"/>
              </a:spcAft>
              <a:buFont typeface="Arial" panose="020B0604020202020204" pitchFamily="34" charset="0"/>
              <a:buChar char="•"/>
            </a:pPr>
            <a:r>
              <a:rPr lang="en-US" sz="2000">
                <a:solidFill>
                  <a:srgbClr val="000000"/>
                </a:solidFill>
              </a:rPr>
              <a:t>M</a:t>
            </a:r>
            <a:r>
              <a:rPr lang="en-US" sz="2000" b="0" i="0" u="none" strike="noStrike">
                <a:solidFill>
                  <a:srgbClr val="000000"/>
                </a:solidFill>
                <a:effectLst/>
              </a:rPr>
              <a:t>issing values and normalized features for consistency (omit values) </a:t>
            </a:r>
          </a:p>
          <a:p>
            <a:pPr marL="914400" rtl="0" fontAlgn="base">
              <a:spcBef>
                <a:spcPts val="1200"/>
              </a:spcBef>
              <a:buFont typeface="Arial" panose="020B0604020202020204" pitchFamily="34" charset="0"/>
              <a:buChar char="•"/>
            </a:pPr>
            <a:r>
              <a:rPr lang="en-US" sz="2000" b="0" i="0" u="none" strike="noStrike">
                <a:solidFill>
                  <a:srgbClr val="000000"/>
                </a:solidFill>
                <a:effectLst/>
              </a:rPr>
              <a:t>Feature selection (most impactful attributes) </a:t>
            </a:r>
          </a:p>
          <a:p>
            <a:pPr marL="914400" rtl="0" fontAlgn="base">
              <a:spcBef>
                <a:spcPts val="1200"/>
              </a:spcBef>
              <a:buFont typeface="Arial" panose="020B0604020202020204" pitchFamily="34" charset="0"/>
              <a:buChar char="•"/>
            </a:pPr>
            <a:r>
              <a:rPr lang="en-US" sz="2000">
                <a:solidFill>
                  <a:srgbClr val="000000"/>
                </a:solidFill>
              </a:rPr>
              <a:t>Disregard cover_urls and keys features </a:t>
            </a:r>
            <a:endParaRPr lang="en-US" sz="2000" b="0" i="0" u="none" strike="noStrike">
              <a:solidFill>
                <a:srgbClr val="000000"/>
              </a:solidFill>
              <a:effectLst/>
            </a:endParaRPr>
          </a:p>
          <a:p>
            <a:endParaRPr lang="en-US" sz="2000"/>
          </a:p>
        </p:txBody>
      </p:sp>
      <p:pic>
        <p:nvPicPr>
          <p:cNvPr id="5" name="Picture 4" descr="A screenshot of a computer screen&#10;&#10;Description automatically generated">
            <a:extLst>
              <a:ext uri="{FF2B5EF4-FFF2-40B4-BE49-F238E27FC236}">
                <a16:creationId xmlns:a16="http://schemas.microsoft.com/office/drawing/2014/main" id="{D35779EC-B77C-39CC-8654-467E907E0F07}"/>
              </a:ext>
            </a:extLst>
          </p:cNvPr>
          <p:cNvPicPr>
            <a:picLocks noChangeAspect="1"/>
          </p:cNvPicPr>
          <p:nvPr/>
        </p:nvPicPr>
        <p:blipFill>
          <a:blip r:embed="rId3"/>
          <a:stretch>
            <a:fillRect/>
          </a:stretch>
        </p:blipFill>
        <p:spPr>
          <a:xfrm>
            <a:off x="5678875" y="1304925"/>
            <a:ext cx="2621432" cy="4847453"/>
          </a:xfrm>
          <a:prstGeom prst="rect">
            <a:avLst/>
          </a:prstGeom>
          <a:ln>
            <a:solidFill>
              <a:schemeClr val="tx1"/>
            </a:solidFill>
          </a:ln>
        </p:spPr>
      </p:pic>
      <p:pic>
        <p:nvPicPr>
          <p:cNvPr id="7" name="Picture 6" descr="A screenshot of a computer code&#10;&#10;Description automatically generated">
            <a:extLst>
              <a:ext uri="{FF2B5EF4-FFF2-40B4-BE49-F238E27FC236}">
                <a16:creationId xmlns:a16="http://schemas.microsoft.com/office/drawing/2014/main" id="{D6366EB4-C03F-8980-8FD0-E2F360E0CD5C}"/>
              </a:ext>
            </a:extLst>
          </p:cNvPr>
          <p:cNvPicPr>
            <a:picLocks noChangeAspect="1"/>
          </p:cNvPicPr>
          <p:nvPr/>
        </p:nvPicPr>
        <p:blipFill>
          <a:blip r:embed="rId4"/>
          <a:stretch>
            <a:fillRect/>
          </a:stretch>
        </p:blipFill>
        <p:spPr>
          <a:xfrm>
            <a:off x="8356660" y="2673138"/>
            <a:ext cx="3563347" cy="1511723"/>
          </a:xfrm>
          <a:prstGeom prst="rect">
            <a:avLst/>
          </a:prstGeom>
          <a:ln>
            <a:solidFill>
              <a:schemeClr val="tx1"/>
            </a:solidFill>
          </a:ln>
        </p:spPr>
      </p:pic>
      <p:sp>
        <p:nvSpPr>
          <p:cNvPr id="8" name="Rectangle 7">
            <a:extLst>
              <a:ext uri="{FF2B5EF4-FFF2-40B4-BE49-F238E27FC236}">
                <a16:creationId xmlns:a16="http://schemas.microsoft.com/office/drawing/2014/main" id="{BC84A631-9EA5-7620-6594-6C5FE0DF6AA1}"/>
              </a:ext>
            </a:extLst>
          </p:cNvPr>
          <p:cNvSpPr/>
          <p:nvPr/>
        </p:nvSpPr>
        <p:spPr>
          <a:xfrm>
            <a:off x="5755340" y="5747461"/>
            <a:ext cx="2468502" cy="22068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2D7CC4C-A229-C26C-3C28-415FBCD4F55C}"/>
              </a:ext>
            </a:extLst>
          </p:cNvPr>
          <p:cNvSpPr/>
          <p:nvPr/>
        </p:nvSpPr>
        <p:spPr>
          <a:xfrm>
            <a:off x="5755340" y="4196998"/>
            <a:ext cx="2468502" cy="22068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1328F7F-B0D7-3EDE-8DA9-18A12308F9FD}"/>
              </a:ext>
            </a:extLst>
          </p:cNvPr>
          <p:cNvSpPr/>
          <p:nvPr/>
        </p:nvSpPr>
        <p:spPr>
          <a:xfrm>
            <a:off x="8360658" y="3765174"/>
            <a:ext cx="2468502" cy="22068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8EB46FD-F252-A458-E844-4CE76471183E}"/>
              </a:ext>
            </a:extLst>
          </p:cNvPr>
          <p:cNvSpPr/>
          <p:nvPr/>
        </p:nvSpPr>
        <p:spPr>
          <a:xfrm>
            <a:off x="5755340" y="3203192"/>
            <a:ext cx="2468502" cy="22068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874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7E94D-178C-D22B-07FC-1760ACCCB8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8FE24F-F7D7-F59E-CC02-199D21061D04}"/>
              </a:ext>
            </a:extLst>
          </p:cNvPr>
          <p:cNvSpPr>
            <a:spLocks noGrp="1"/>
          </p:cNvSpPr>
          <p:nvPr>
            <p:ph type="title"/>
          </p:nvPr>
        </p:nvSpPr>
        <p:spPr>
          <a:xfrm>
            <a:off x="309562" y="-20638"/>
            <a:ext cx="10515600" cy="1325563"/>
          </a:xfrm>
        </p:spPr>
        <p:txBody>
          <a:bodyPr/>
          <a:lstStyle/>
          <a:p>
            <a:r>
              <a:rPr lang="en-US" b="1">
                <a:solidFill>
                  <a:srgbClr val="1BD760"/>
                </a:solidFill>
              </a:rPr>
              <a:t>Linear Regression</a:t>
            </a:r>
            <a:endParaRPr lang="en-US"/>
          </a:p>
        </p:txBody>
      </p:sp>
      <p:sp>
        <p:nvSpPr>
          <p:cNvPr id="6" name="TextBox 5">
            <a:extLst>
              <a:ext uri="{FF2B5EF4-FFF2-40B4-BE49-F238E27FC236}">
                <a16:creationId xmlns:a16="http://schemas.microsoft.com/office/drawing/2014/main" id="{152CBABF-8F80-8B10-0205-6BAA7F139ECF}"/>
              </a:ext>
            </a:extLst>
          </p:cNvPr>
          <p:cNvSpPr txBox="1"/>
          <p:nvPr/>
        </p:nvSpPr>
        <p:spPr>
          <a:xfrm>
            <a:off x="7886699" y="927100"/>
            <a:ext cx="3976687" cy="5632311"/>
          </a:xfrm>
          <a:prstGeom prst="rect">
            <a:avLst/>
          </a:prstGeom>
          <a:noFill/>
        </p:spPr>
        <p:txBody>
          <a:bodyPr wrap="square" lIns="91440" tIns="45720" rIns="91440" bIns="45720" rtlCol="0" anchor="t">
            <a:spAutoFit/>
          </a:bodyPr>
          <a:lstStyle/>
          <a:p>
            <a:pPr algn="ctr"/>
            <a:r>
              <a:rPr lang="en-US" b="1" u="sng"/>
              <a:t>Results Analysis</a:t>
            </a:r>
          </a:p>
          <a:p>
            <a:endParaRPr lang="en-US"/>
          </a:p>
          <a:p>
            <a:r>
              <a:rPr lang="en-US" b="1"/>
              <a:t>Model Fit: </a:t>
            </a:r>
            <a:r>
              <a:rPr lang="en-US"/>
              <a:t>The R-squared value of 0.744 shows that 74.4% of the variance in streams is explained by the model, and the model is statistically significant with a F-statistic of 127.2 (p-value &lt; 0.0001).</a:t>
            </a:r>
          </a:p>
          <a:p>
            <a:endParaRPr lang="en-US"/>
          </a:p>
          <a:p>
            <a:endParaRPr lang="en-US"/>
          </a:p>
          <a:p>
            <a:r>
              <a:rPr lang="en-US" b="1"/>
              <a:t>Significant Predictors: </a:t>
            </a:r>
            <a:r>
              <a:rPr lang="en-US"/>
              <a:t>Variables like </a:t>
            </a:r>
            <a:r>
              <a:rPr lang="en-US" err="1"/>
              <a:t>in_spotify_playlists</a:t>
            </a:r>
            <a:r>
              <a:rPr lang="en-US"/>
              <a:t>, </a:t>
            </a:r>
            <a:r>
              <a:rPr lang="en-US" err="1"/>
              <a:t>in_apple_playlists</a:t>
            </a:r>
            <a:r>
              <a:rPr lang="en-US"/>
              <a:t>, and </a:t>
            </a:r>
            <a:r>
              <a:rPr lang="en-US" err="1"/>
              <a:t>released_year</a:t>
            </a:r>
            <a:r>
              <a:rPr lang="en-US"/>
              <a:t> are significant (p-values &lt; 0.05), indicating their strong impact on streams, while other variables like bpm and danceability_% are not significant.</a:t>
            </a:r>
          </a:p>
          <a:p>
            <a:endParaRPr lang="en-US"/>
          </a:p>
          <a:p>
            <a:endParaRPr lang="en-US"/>
          </a:p>
        </p:txBody>
      </p:sp>
      <p:pic>
        <p:nvPicPr>
          <p:cNvPr id="12" name="Picture 11" descr="A screenshot of a computer&#10;&#10;Description automatically generated">
            <a:extLst>
              <a:ext uri="{FF2B5EF4-FFF2-40B4-BE49-F238E27FC236}">
                <a16:creationId xmlns:a16="http://schemas.microsoft.com/office/drawing/2014/main" id="{08BFA979-2C8C-D5A4-712B-AE0775F3017E}"/>
              </a:ext>
            </a:extLst>
          </p:cNvPr>
          <p:cNvPicPr>
            <a:picLocks noChangeAspect="1"/>
          </p:cNvPicPr>
          <p:nvPr/>
        </p:nvPicPr>
        <p:blipFill>
          <a:blip r:embed="rId3"/>
          <a:stretch>
            <a:fillRect/>
          </a:stretch>
        </p:blipFill>
        <p:spPr>
          <a:xfrm>
            <a:off x="933450" y="1105443"/>
            <a:ext cx="5915025" cy="5453968"/>
          </a:xfrm>
          <a:prstGeom prst="rect">
            <a:avLst/>
          </a:prstGeom>
        </p:spPr>
      </p:pic>
    </p:spTree>
    <p:extLst>
      <p:ext uri="{BB962C8B-B14F-4D97-AF65-F5344CB8AC3E}">
        <p14:creationId xmlns:p14="http://schemas.microsoft.com/office/powerpoint/2010/main" val="14326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E9A8A-F910-D9AB-79EE-70FC775776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FCAE39-BDDD-C99F-C1AC-BDBC3A3E5BF8}"/>
              </a:ext>
            </a:extLst>
          </p:cNvPr>
          <p:cNvSpPr>
            <a:spLocks noGrp="1"/>
          </p:cNvSpPr>
          <p:nvPr>
            <p:ph type="title"/>
          </p:nvPr>
        </p:nvSpPr>
        <p:spPr>
          <a:xfrm>
            <a:off x="309562" y="-20638"/>
            <a:ext cx="10515600" cy="1325563"/>
          </a:xfrm>
        </p:spPr>
        <p:txBody>
          <a:bodyPr/>
          <a:lstStyle/>
          <a:p>
            <a:r>
              <a:rPr lang="en-US" b="1">
                <a:solidFill>
                  <a:srgbClr val="1BD760"/>
                </a:solidFill>
              </a:rPr>
              <a:t>Linear Regression</a:t>
            </a:r>
            <a:endParaRPr lang="en-US"/>
          </a:p>
        </p:txBody>
      </p:sp>
      <p:pic>
        <p:nvPicPr>
          <p:cNvPr id="14" name="Picture 13" descr="A graph with a red line&#10;&#10;Description automatically generated">
            <a:extLst>
              <a:ext uri="{FF2B5EF4-FFF2-40B4-BE49-F238E27FC236}">
                <a16:creationId xmlns:a16="http://schemas.microsoft.com/office/drawing/2014/main" id="{2912192C-213E-29FD-048C-597308A79EAA}"/>
              </a:ext>
            </a:extLst>
          </p:cNvPr>
          <p:cNvPicPr>
            <a:picLocks noChangeAspect="1"/>
          </p:cNvPicPr>
          <p:nvPr/>
        </p:nvPicPr>
        <p:blipFill>
          <a:blip r:embed="rId3"/>
          <a:stretch>
            <a:fillRect/>
          </a:stretch>
        </p:blipFill>
        <p:spPr>
          <a:xfrm>
            <a:off x="2209800" y="1405584"/>
            <a:ext cx="7772400" cy="4795992"/>
          </a:xfrm>
          <a:prstGeom prst="rect">
            <a:avLst/>
          </a:prstGeom>
        </p:spPr>
      </p:pic>
    </p:spTree>
    <p:extLst>
      <p:ext uri="{BB962C8B-B14F-4D97-AF65-F5344CB8AC3E}">
        <p14:creationId xmlns:p14="http://schemas.microsoft.com/office/powerpoint/2010/main" val="3165169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1A18F-1DEC-7CDA-DC67-FC39EA68FA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A70893-ACF3-EE03-90A9-A2EB53D294FC}"/>
              </a:ext>
            </a:extLst>
          </p:cNvPr>
          <p:cNvSpPr>
            <a:spLocks noGrp="1"/>
          </p:cNvSpPr>
          <p:nvPr>
            <p:ph type="title"/>
          </p:nvPr>
        </p:nvSpPr>
        <p:spPr>
          <a:xfrm>
            <a:off x="309562" y="-20638"/>
            <a:ext cx="10515600" cy="1325563"/>
          </a:xfrm>
        </p:spPr>
        <p:txBody>
          <a:bodyPr/>
          <a:lstStyle/>
          <a:p>
            <a:r>
              <a:rPr lang="en-US" b="1">
                <a:solidFill>
                  <a:srgbClr val="1BD760"/>
                </a:solidFill>
              </a:rPr>
              <a:t>Logistic Regression</a:t>
            </a:r>
            <a:endParaRPr lang="en-US"/>
          </a:p>
        </p:txBody>
      </p:sp>
      <p:pic>
        <p:nvPicPr>
          <p:cNvPr id="4" name="Picture 3" descr="A blue squares with white text&#10;&#10;Description automatically generated">
            <a:extLst>
              <a:ext uri="{FF2B5EF4-FFF2-40B4-BE49-F238E27FC236}">
                <a16:creationId xmlns:a16="http://schemas.microsoft.com/office/drawing/2014/main" id="{438D9EBD-038F-C074-C58E-143CC5413B96}"/>
              </a:ext>
            </a:extLst>
          </p:cNvPr>
          <p:cNvPicPr>
            <a:picLocks noChangeAspect="1"/>
          </p:cNvPicPr>
          <p:nvPr/>
        </p:nvPicPr>
        <p:blipFill>
          <a:blip r:embed="rId3"/>
          <a:stretch>
            <a:fillRect/>
          </a:stretch>
        </p:blipFill>
        <p:spPr>
          <a:xfrm>
            <a:off x="512762" y="1749129"/>
            <a:ext cx="4940300" cy="4470400"/>
          </a:xfrm>
          <a:prstGeom prst="rect">
            <a:avLst/>
          </a:prstGeom>
        </p:spPr>
      </p:pic>
      <p:sp>
        <p:nvSpPr>
          <p:cNvPr id="3" name="TextBox 2">
            <a:extLst>
              <a:ext uri="{FF2B5EF4-FFF2-40B4-BE49-F238E27FC236}">
                <a16:creationId xmlns:a16="http://schemas.microsoft.com/office/drawing/2014/main" id="{21BFDDC2-4FC1-752A-B09E-191E8FF0D54A}"/>
              </a:ext>
            </a:extLst>
          </p:cNvPr>
          <p:cNvSpPr txBox="1"/>
          <p:nvPr/>
        </p:nvSpPr>
        <p:spPr>
          <a:xfrm>
            <a:off x="6134100" y="2360911"/>
            <a:ext cx="4829175" cy="1477328"/>
          </a:xfrm>
          <a:prstGeom prst="rect">
            <a:avLst/>
          </a:prstGeom>
          <a:noFill/>
        </p:spPr>
        <p:txBody>
          <a:bodyPr wrap="square" rtlCol="0">
            <a:spAutoFit/>
          </a:bodyPr>
          <a:lstStyle/>
          <a:p>
            <a:pPr marL="285750" indent="-285750">
              <a:buFont typeface="Arial" panose="020B0604020202020204" pitchFamily="34" charset="0"/>
              <a:buChar char="•"/>
            </a:pPr>
            <a:r>
              <a:rPr lang="en-US"/>
              <a:t>Binary Classification (0,1) for high vs low streaming based on the average of song streams</a:t>
            </a:r>
          </a:p>
          <a:p>
            <a:endParaRPr lang="en-US"/>
          </a:p>
          <a:p>
            <a:pPr marL="285750" indent="-285750">
              <a:buFont typeface="Arial" panose="020B0604020202020204" pitchFamily="34" charset="0"/>
              <a:buChar char="•"/>
            </a:pPr>
            <a:r>
              <a:rPr lang="en-US"/>
              <a:t>Class imbalance issue persists </a:t>
            </a:r>
          </a:p>
        </p:txBody>
      </p:sp>
    </p:spTree>
    <p:extLst>
      <p:ext uri="{BB962C8B-B14F-4D97-AF65-F5344CB8AC3E}">
        <p14:creationId xmlns:p14="http://schemas.microsoft.com/office/powerpoint/2010/main" val="4010195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EE72C-9A61-9FB5-3593-A16D6936C4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B0B4E1-B825-1D7C-073D-37BE81CEBAD3}"/>
              </a:ext>
            </a:extLst>
          </p:cNvPr>
          <p:cNvSpPr>
            <a:spLocks noGrp="1"/>
          </p:cNvSpPr>
          <p:nvPr>
            <p:ph type="title"/>
          </p:nvPr>
        </p:nvSpPr>
        <p:spPr>
          <a:xfrm>
            <a:off x="309562" y="-20638"/>
            <a:ext cx="10515600" cy="1325563"/>
          </a:xfrm>
        </p:spPr>
        <p:txBody>
          <a:bodyPr/>
          <a:lstStyle/>
          <a:p>
            <a:r>
              <a:rPr lang="en-US" b="1">
                <a:solidFill>
                  <a:srgbClr val="1BD760"/>
                </a:solidFill>
              </a:rPr>
              <a:t>Logistic Regression</a:t>
            </a:r>
            <a:endParaRPr lang="en-US"/>
          </a:p>
        </p:txBody>
      </p:sp>
      <p:pic>
        <p:nvPicPr>
          <p:cNvPr id="6" name="Picture 5" descr="A screenshot of a computer screen&#10;&#10;Description automatically generated">
            <a:extLst>
              <a:ext uri="{FF2B5EF4-FFF2-40B4-BE49-F238E27FC236}">
                <a16:creationId xmlns:a16="http://schemas.microsoft.com/office/drawing/2014/main" id="{5E153FE0-1A8E-4CFF-D49A-A3C0CBCDABEC}"/>
              </a:ext>
            </a:extLst>
          </p:cNvPr>
          <p:cNvPicPr>
            <a:picLocks noChangeAspect="1"/>
          </p:cNvPicPr>
          <p:nvPr/>
        </p:nvPicPr>
        <p:blipFill>
          <a:blip r:embed="rId3"/>
          <a:stretch>
            <a:fillRect/>
          </a:stretch>
        </p:blipFill>
        <p:spPr>
          <a:xfrm>
            <a:off x="7236618" y="1728491"/>
            <a:ext cx="4394200" cy="3111500"/>
          </a:xfrm>
          <a:prstGeom prst="rect">
            <a:avLst/>
          </a:prstGeom>
          <a:solidFill>
            <a:schemeClr val="bg1"/>
          </a:solidFill>
          <a:ln>
            <a:solidFill>
              <a:schemeClr val="accent1"/>
            </a:solidFill>
          </a:ln>
        </p:spPr>
      </p:pic>
      <p:pic>
        <p:nvPicPr>
          <p:cNvPr id="9" name="Picture 8" descr="A screenshot of a graph&#10;&#10;Description automatically generated">
            <a:extLst>
              <a:ext uri="{FF2B5EF4-FFF2-40B4-BE49-F238E27FC236}">
                <a16:creationId xmlns:a16="http://schemas.microsoft.com/office/drawing/2014/main" id="{1BF3C56B-2C14-9E0D-96F3-851DCB6FA75D}"/>
              </a:ext>
            </a:extLst>
          </p:cNvPr>
          <p:cNvPicPr>
            <a:picLocks noChangeAspect="1"/>
          </p:cNvPicPr>
          <p:nvPr/>
        </p:nvPicPr>
        <p:blipFill>
          <a:blip r:embed="rId4"/>
          <a:srcRect t="6684"/>
          <a:stretch/>
        </p:blipFill>
        <p:spPr>
          <a:xfrm>
            <a:off x="332582" y="2513916"/>
            <a:ext cx="4406900" cy="1540650"/>
          </a:xfrm>
          <a:prstGeom prst="rect">
            <a:avLst/>
          </a:prstGeom>
          <a:ln w="12700">
            <a:solidFill>
              <a:schemeClr val="accent1">
                <a:shade val="15000"/>
              </a:schemeClr>
            </a:solidFill>
          </a:ln>
        </p:spPr>
      </p:pic>
      <p:sp>
        <p:nvSpPr>
          <p:cNvPr id="10" name="Down Arrow 9">
            <a:extLst>
              <a:ext uri="{FF2B5EF4-FFF2-40B4-BE49-F238E27FC236}">
                <a16:creationId xmlns:a16="http://schemas.microsoft.com/office/drawing/2014/main" id="{9A0C3CAF-4780-564F-1C9E-7545C1F3053A}"/>
              </a:ext>
            </a:extLst>
          </p:cNvPr>
          <p:cNvSpPr/>
          <p:nvPr/>
        </p:nvSpPr>
        <p:spPr>
          <a:xfrm rot="16200000">
            <a:off x="5981700" y="2439394"/>
            <a:ext cx="400050" cy="1485900"/>
          </a:xfrm>
          <a:prstGeom prst="downArrow">
            <a:avLst/>
          </a:prstGeom>
          <a:solidFill>
            <a:srgbClr val="1BD7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6EDF0F4-0B2C-3707-7936-281D09846F1F}"/>
              </a:ext>
            </a:extLst>
          </p:cNvPr>
          <p:cNvSpPr txBox="1"/>
          <p:nvPr/>
        </p:nvSpPr>
        <p:spPr>
          <a:xfrm>
            <a:off x="353220" y="4839991"/>
            <a:ext cx="4424362" cy="923330"/>
          </a:xfrm>
          <a:prstGeom prst="rect">
            <a:avLst/>
          </a:prstGeom>
          <a:noFill/>
        </p:spPr>
        <p:txBody>
          <a:bodyPr wrap="square" rtlCol="0">
            <a:spAutoFit/>
          </a:bodyPr>
          <a:lstStyle/>
          <a:p>
            <a:r>
              <a:rPr lang="en-US">
                <a:latin typeface="system-ui"/>
              </a:rPr>
              <a:t>Deployed </a:t>
            </a:r>
            <a:r>
              <a:rPr lang="en-US" b="0" i="0">
                <a:effectLst/>
                <a:latin typeface="system-ui"/>
              </a:rPr>
              <a:t>class weighting to give more importance to the minority class of high streaming.</a:t>
            </a:r>
            <a:endParaRPr lang="en-US"/>
          </a:p>
        </p:txBody>
      </p:sp>
    </p:spTree>
    <p:extLst>
      <p:ext uri="{BB962C8B-B14F-4D97-AF65-F5344CB8AC3E}">
        <p14:creationId xmlns:p14="http://schemas.microsoft.com/office/powerpoint/2010/main" val="3928163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559E4-041A-5EB6-FEE0-F183B8CECA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0EE84E-95CB-6CAA-D80E-946A859E411E}"/>
              </a:ext>
            </a:extLst>
          </p:cNvPr>
          <p:cNvSpPr>
            <a:spLocks noGrp="1"/>
          </p:cNvSpPr>
          <p:nvPr>
            <p:ph type="title"/>
          </p:nvPr>
        </p:nvSpPr>
        <p:spPr>
          <a:xfrm>
            <a:off x="309562" y="-20638"/>
            <a:ext cx="10515600" cy="1325563"/>
          </a:xfrm>
        </p:spPr>
        <p:txBody>
          <a:bodyPr/>
          <a:lstStyle/>
          <a:p>
            <a:r>
              <a:rPr lang="en-US" b="1">
                <a:solidFill>
                  <a:srgbClr val="1BD760"/>
                </a:solidFill>
              </a:rPr>
              <a:t>Logistic Regression</a:t>
            </a:r>
            <a:endParaRPr lang="en-US"/>
          </a:p>
        </p:txBody>
      </p:sp>
      <p:sp>
        <p:nvSpPr>
          <p:cNvPr id="7" name="TextBox 6">
            <a:extLst>
              <a:ext uri="{FF2B5EF4-FFF2-40B4-BE49-F238E27FC236}">
                <a16:creationId xmlns:a16="http://schemas.microsoft.com/office/drawing/2014/main" id="{7671DFB9-4184-80B9-0B30-900147B8C6F2}"/>
              </a:ext>
            </a:extLst>
          </p:cNvPr>
          <p:cNvSpPr txBox="1"/>
          <p:nvPr/>
        </p:nvSpPr>
        <p:spPr>
          <a:xfrm>
            <a:off x="2332832" y="1142643"/>
            <a:ext cx="6843712" cy="5139869"/>
          </a:xfrm>
          <a:prstGeom prst="rect">
            <a:avLst/>
          </a:prstGeom>
          <a:noFill/>
        </p:spPr>
        <p:txBody>
          <a:bodyPr wrap="square" rtlCol="0">
            <a:spAutoFit/>
          </a:bodyPr>
          <a:lstStyle/>
          <a:p>
            <a:pPr algn="ctr"/>
            <a:r>
              <a:rPr lang="en-US" sz="2000" b="1" i="0" u="sng">
                <a:effectLst/>
                <a:latin typeface="system-ui"/>
              </a:rPr>
              <a:t>Results</a:t>
            </a:r>
          </a:p>
          <a:p>
            <a:pPr algn="ctr"/>
            <a:endParaRPr lang="en-US" sz="2000" b="0" i="0" u="sng">
              <a:effectLst/>
              <a:latin typeface="system-ui"/>
            </a:endParaRPr>
          </a:p>
          <a:p>
            <a:pPr marL="285750" indent="-285750" algn="l">
              <a:buFont typeface="Arial" panose="020B0604020202020204" pitchFamily="34" charset="0"/>
              <a:buChar char="•"/>
            </a:pPr>
            <a:r>
              <a:rPr lang="en-US" b="1" i="0">
                <a:effectLst/>
              </a:rPr>
              <a:t>Accuracy: </a:t>
            </a:r>
            <a:r>
              <a:rPr lang="en-US" b="0" i="0">
                <a:effectLst/>
              </a:rPr>
              <a:t>The model achieves an accuracy of 78.65%, correctly predicting streaming success for most instances, but with room for improvement in the minority class.</a:t>
            </a:r>
          </a:p>
          <a:p>
            <a:pPr algn="l"/>
            <a:endParaRPr lang="en-US" b="0" i="0">
              <a:effectLst/>
            </a:endParaRPr>
          </a:p>
          <a:p>
            <a:pPr marL="285750" indent="-285750" algn="l">
              <a:buFont typeface="Arial" panose="020B0604020202020204" pitchFamily="34" charset="0"/>
              <a:buChar char="•"/>
            </a:pPr>
            <a:r>
              <a:rPr lang="en-US" b="1" i="0">
                <a:effectLst/>
              </a:rPr>
              <a:t>Class Imbalance Impact: </a:t>
            </a:r>
            <a:r>
              <a:rPr lang="en-US" b="0" i="0">
                <a:effectLst/>
              </a:rPr>
              <a:t>There is a significant class imbalance (651 low vs. 301 high), affecting the model’s ability to predict the high streaming class accurately.</a:t>
            </a:r>
          </a:p>
          <a:p>
            <a:pPr algn="l"/>
            <a:endParaRPr lang="en-US" b="0" i="0">
              <a:effectLst/>
            </a:endParaRPr>
          </a:p>
          <a:p>
            <a:pPr marL="285750" indent="-285750" algn="l">
              <a:buFont typeface="Arial" panose="020B0604020202020204" pitchFamily="34" charset="0"/>
              <a:buChar char="•"/>
            </a:pPr>
            <a:r>
              <a:rPr lang="en-US" b="1" i="0">
                <a:effectLst/>
              </a:rPr>
              <a:t>Precision &amp; Recall: </a:t>
            </a:r>
            <a:r>
              <a:rPr lang="en-US" b="0" i="0">
                <a:effectLst/>
              </a:rPr>
              <a:t>Precision for low streaming (0) is 81%with high recall 90% while precision for high streaming (1) is 71% with recall at </a:t>
            </a:r>
            <a:r>
              <a:rPr lang="en-US"/>
              <a:t>53%</a:t>
            </a:r>
            <a:r>
              <a:rPr lang="en-US" b="0" i="0">
                <a:effectLst/>
              </a:rPr>
              <a:t>, indicating weaker performance for high streaming predictions.</a:t>
            </a:r>
          </a:p>
          <a:p>
            <a:pPr algn="l"/>
            <a:endParaRPr lang="en-US" b="0" i="0">
              <a:effectLst/>
            </a:endParaRPr>
          </a:p>
          <a:p>
            <a:pPr marL="285750" indent="-285750" algn="l">
              <a:buFont typeface="Arial" panose="020B0604020202020204" pitchFamily="34" charset="0"/>
              <a:buChar char="•"/>
            </a:pPr>
            <a:r>
              <a:rPr lang="en-US" b="1" i="0">
                <a:effectLst/>
              </a:rPr>
              <a:t>F1-Score: </a:t>
            </a:r>
            <a:r>
              <a:rPr lang="en-US" b="0" i="0">
                <a:effectLst/>
              </a:rPr>
              <a:t>The F1-score is </a:t>
            </a:r>
            <a:r>
              <a:rPr lang="en-US"/>
              <a:t>85%</a:t>
            </a:r>
            <a:r>
              <a:rPr lang="en-US" b="0" i="0">
                <a:effectLst/>
              </a:rPr>
              <a:t> for low streaming (class 0) and 65% for high streaming (class 1), highlighting the model’s struggle with the high streaming class.</a:t>
            </a:r>
          </a:p>
        </p:txBody>
      </p:sp>
    </p:spTree>
    <p:extLst>
      <p:ext uri="{BB962C8B-B14F-4D97-AF65-F5344CB8AC3E}">
        <p14:creationId xmlns:p14="http://schemas.microsoft.com/office/powerpoint/2010/main" val="4215820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2CFC8-7D85-0828-F0AC-430CE0AB67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224271-341F-259D-CE5B-A0E2099C7AE3}"/>
              </a:ext>
            </a:extLst>
          </p:cNvPr>
          <p:cNvSpPr>
            <a:spLocks noGrp="1"/>
          </p:cNvSpPr>
          <p:nvPr>
            <p:ph type="title"/>
          </p:nvPr>
        </p:nvSpPr>
        <p:spPr>
          <a:xfrm>
            <a:off x="309562" y="-20638"/>
            <a:ext cx="10515600" cy="1325563"/>
          </a:xfrm>
        </p:spPr>
        <p:txBody>
          <a:bodyPr/>
          <a:lstStyle/>
          <a:p>
            <a:r>
              <a:rPr lang="en-US" b="1">
                <a:solidFill>
                  <a:srgbClr val="1BD760"/>
                </a:solidFill>
              </a:rPr>
              <a:t>Bag of Words Model</a:t>
            </a:r>
            <a:endParaRPr lang="en-US"/>
          </a:p>
        </p:txBody>
      </p:sp>
      <p:pic>
        <p:nvPicPr>
          <p:cNvPr id="4" name="Picture 3" descr="A screenshot of a computer&#10;&#10;Description automatically generated">
            <a:extLst>
              <a:ext uri="{FF2B5EF4-FFF2-40B4-BE49-F238E27FC236}">
                <a16:creationId xmlns:a16="http://schemas.microsoft.com/office/drawing/2014/main" id="{202F3D1C-E06F-7B08-69C0-9A55C7C71B9D}"/>
              </a:ext>
            </a:extLst>
          </p:cNvPr>
          <p:cNvPicPr>
            <a:picLocks noChangeAspect="1"/>
          </p:cNvPicPr>
          <p:nvPr/>
        </p:nvPicPr>
        <p:blipFill>
          <a:blip r:embed="rId3"/>
          <a:stretch>
            <a:fillRect/>
          </a:stretch>
        </p:blipFill>
        <p:spPr>
          <a:xfrm>
            <a:off x="6786563" y="3917563"/>
            <a:ext cx="4533900" cy="2095500"/>
          </a:xfrm>
          <a:prstGeom prst="rect">
            <a:avLst/>
          </a:prstGeom>
          <a:ln w="12700">
            <a:solidFill>
              <a:schemeClr val="accent1"/>
            </a:solidFill>
          </a:ln>
        </p:spPr>
      </p:pic>
      <p:pic>
        <p:nvPicPr>
          <p:cNvPr id="6" name="Picture 5">
            <a:extLst>
              <a:ext uri="{FF2B5EF4-FFF2-40B4-BE49-F238E27FC236}">
                <a16:creationId xmlns:a16="http://schemas.microsoft.com/office/drawing/2014/main" id="{9C0FFFCD-B60C-60CA-56CA-E136CEA2F2D0}"/>
              </a:ext>
            </a:extLst>
          </p:cNvPr>
          <p:cNvPicPr>
            <a:picLocks noChangeAspect="1"/>
          </p:cNvPicPr>
          <p:nvPr/>
        </p:nvPicPr>
        <p:blipFill>
          <a:blip r:embed="rId4"/>
          <a:stretch>
            <a:fillRect/>
          </a:stretch>
        </p:blipFill>
        <p:spPr>
          <a:xfrm>
            <a:off x="6786563" y="1394212"/>
            <a:ext cx="4394200" cy="2070100"/>
          </a:xfrm>
          <a:prstGeom prst="rect">
            <a:avLst/>
          </a:prstGeom>
          <a:ln w="12700">
            <a:solidFill>
              <a:schemeClr val="accent1"/>
            </a:solidFill>
          </a:ln>
        </p:spPr>
      </p:pic>
      <p:pic>
        <p:nvPicPr>
          <p:cNvPr id="8" name="Picture 7">
            <a:extLst>
              <a:ext uri="{FF2B5EF4-FFF2-40B4-BE49-F238E27FC236}">
                <a16:creationId xmlns:a16="http://schemas.microsoft.com/office/drawing/2014/main" id="{4E1B146D-5ABA-1914-DD45-61610E2180AF}"/>
              </a:ext>
            </a:extLst>
          </p:cNvPr>
          <p:cNvPicPr>
            <a:picLocks noChangeAspect="1"/>
          </p:cNvPicPr>
          <p:nvPr/>
        </p:nvPicPr>
        <p:blipFill>
          <a:blip r:embed="rId5"/>
          <a:stretch>
            <a:fillRect/>
          </a:stretch>
        </p:blipFill>
        <p:spPr>
          <a:xfrm>
            <a:off x="482600" y="1669663"/>
            <a:ext cx="5613400" cy="4343400"/>
          </a:xfrm>
          <a:prstGeom prst="rect">
            <a:avLst/>
          </a:prstGeom>
        </p:spPr>
      </p:pic>
    </p:spTree>
    <p:extLst>
      <p:ext uri="{BB962C8B-B14F-4D97-AF65-F5344CB8AC3E}">
        <p14:creationId xmlns:p14="http://schemas.microsoft.com/office/powerpoint/2010/main" val="2513157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28CB8-67B9-98F9-78E7-F9E1C521A9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1EB4D1-79FD-5B05-792B-6DECD863CBE0}"/>
              </a:ext>
            </a:extLst>
          </p:cNvPr>
          <p:cNvSpPr>
            <a:spLocks noGrp="1"/>
          </p:cNvSpPr>
          <p:nvPr>
            <p:ph type="title"/>
          </p:nvPr>
        </p:nvSpPr>
        <p:spPr>
          <a:xfrm>
            <a:off x="309562" y="-20638"/>
            <a:ext cx="10515600" cy="1325563"/>
          </a:xfrm>
        </p:spPr>
        <p:txBody>
          <a:bodyPr/>
          <a:lstStyle/>
          <a:p>
            <a:r>
              <a:rPr lang="en-US" b="1">
                <a:solidFill>
                  <a:srgbClr val="1BD760"/>
                </a:solidFill>
              </a:rPr>
              <a:t>Bag of Words Model</a:t>
            </a:r>
            <a:endParaRPr lang="en-US"/>
          </a:p>
        </p:txBody>
      </p:sp>
      <p:graphicFrame>
        <p:nvGraphicFramePr>
          <p:cNvPr id="3" name="Diagram 2">
            <a:extLst>
              <a:ext uri="{FF2B5EF4-FFF2-40B4-BE49-F238E27FC236}">
                <a16:creationId xmlns:a16="http://schemas.microsoft.com/office/drawing/2014/main" id="{DB9404D1-1AAC-FB1A-0B34-13B032DD93B5}"/>
              </a:ext>
            </a:extLst>
          </p:cNvPr>
          <p:cNvGraphicFramePr/>
          <p:nvPr>
            <p:extLst>
              <p:ext uri="{D42A27DB-BD31-4B8C-83A1-F6EECF244321}">
                <p14:modId xmlns:p14="http://schemas.microsoft.com/office/powerpoint/2010/main" val="2864708031"/>
              </p:ext>
            </p:extLst>
          </p:nvPr>
        </p:nvGraphicFramePr>
        <p:xfrm>
          <a:off x="1528762" y="1304925"/>
          <a:ext cx="9672638" cy="5067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37170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0823-0D08-F6AE-2106-E14E5FA54E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F7C071-358E-4CC6-8D3A-5C66A8BA8051}"/>
              </a:ext>
            </a:extLst>
          </p:cNvPr>
          <p:cNvSpPr>
            <a:spLocks noGrp="1"/>
          </p:cNvSpPr>
          <p:nvPr>
            <p:ph type="title"/>
          </p:nvPr>
        </p:nvSpPr>
        <p:spPr>
          <a:xfrm>
            <a:off x="309562" y="-20638"/>
            <a:ext cx="10515600" cy="1325563"/>
          </a:xfrm>
        </p:spPr>
        <p:txBody>
          <a:bodyPr/>
          <a:lstStyle/>
          <a:p>
            <a:r>
              <a:rPr lang="en-US" b="1">
                <a:solidFill>
                  <a:srgbClr val="1BD760"/>
                </a:solidFill>
              </a:rPr>
              <a:t>Principal Component Analysis </a:t>
            </a:r>
            <a:endParaRPr lang="en-US"/>
          </a:p>
        </p:txBody>
      </p:sp>
      <p:pic>
        <p:nvPicPr>
          <p:cNvPr id="3" name="Picture 2">
            <a:extLst>
              <a:ext uri="{FF2B5EF4-FFF2-40B4-BE49-F238E27FC236}">
                <a16:creationId xmlns:a16="http://schemas.microsoft.com/office/drawing/2014/main" id="{F00304F8-B514-7627-EC9D-C3637D12A905}"/>
              </a:ext>
            </a:extLst>
          </p:cNvPr>
          <p:cNvPicPr>
            <a:picLocks noChangeAspect="1"/>
          </p:cNvPicPr>
          <p:nvPr/>
        </p:nvPicPr>
        <p:blipFill>
          <a:blip r:embed="rId2"/>
          <a:stretch>
            <a:fillRect/>
          </a:stretch>
        </p:blipFill>
        <p:spPr>
          <a:xfrm>
            <a:off x="882799" y="1635863"/>
            <a:ext cx="5813276" cy="3936262"/>
          </a:xfrm>
          <a:prstGeom prst="rect">
            <a:avLst/>
          </a:prstGeom>
        </p:spPr>
      </p:pic>
      <p:sp>
        <p:nvSpPr>
          <p:cNvPr id="4" name="TextBox 3">
            <a:extLst>
              <a:ext uri="{FF2B5EF4-FFF2-40B4-BE49-F238E27FC236}">
                <a16:creationId xmlns:a16="http://schemas.microsoft.com/office/drawing/2014/main" id="{2ABA9DFB-7B07-1A8D-D6A9-B3213D5EABE2}"/>
              </a:ext>
            </a:extLst>
          </p:cNvPr>
          <p:cNvSpPr txBox="1"/>
          <p:nvPr/>
        </p:nvSpPr>
        <p:spPr>
          <a:xfrm>
            <a:off x="7158038" y="1496902"/>
            <a:ext cx="4608363" cy="4247317"/>
          </a:xfrm>
          <a:prstGeom prst="rect">
            <a:avLst/>
          </a:prstGeom>
          <a:noFill/>
        </p:spPr>
        <p:txBody>
          <a:bodyPr wrap="square" rtlCol="0">
            <a:spAutoFit/>
          </a:bodyPr>
          <a:lstStyle/>
          <a:p>
            <a:pPr marL="285750" indent="-285750">
              <a:buFont typeface="Arial" panose="020B0604020202020204" pitchFamily="34" charset="0"/>
              <a:buChar char="•"/>
            </a:pPr>
            <a:r>
              <a:rPr lang="en-US" b="1"/>
              <a:t>Model Predicts Majority Class Only: </a:t>
            </a:r>
            <a:r>
              <a:rPr lang="en-US"/>
              <a:t>The PCA-based model has a moderate accuracy of 60.37% by predicting the majority class (0) well </a:t>
            </a:r>
          </a:p>
          <a:p>
            <a:endParaRPr lang="en-US"/>
          </a:p>
          <a:p>
            <a:pPr marL="285750" indent="-285750">
              <a:buFont typeface="Arial" panose="020B0604020202020204" pitchFamily="34" charset="0"/>
              <a:buChar char="•"/>
            </a:pPr>
            <a:r>
              <a:rPr lang="en-US"/>
              <a:t>Fails to identify any instances of the minority class (1), resulting in low precision and recall</a:t>
            </a:r>
          </a:p>
          <a:p>
            <a:endParaRPr lang="en-US"/>
          </a:p>
          <a:p>
            <a:endParaRPr lang="en-US"/>
          </a:p>
          <a:p>
            <a:pPr marL="285750" indent="-285750">
              <a:buFont typeface="Arial" panose="020B0604020202020204" pitchFamily="34" charset="0"/>
              <a:buChar char="•"/>
            </a:pPr>
            <a:r>
              <a:rPr lang="en-US" b="1"/>
              <a:t>Imbalance Skews Results</a:t>
            </a:r>
            <a:r>
              <a:rPr lang="en-US"/>
              <a:t>: Class imbalance heavily influences the model's performance, where the negative class (0) dominates the outcomes with high recall of 96%</a:t>
            </a:r>
          </a:p>
        </p:txBody>
      </p:sp>
    </p:spTree>
    <p:extLst>
      <p:ext uri="{BB962C8B-B14F-4D97-AF65-F5344CB8AC3E}">
        <p14:creationId xmlns:p14="http://schemas.microsoft.com/office/powerpoint/2010/main" val="1988926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96033-5DF7-1486-60B6-9B4454695A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F2F1C3-2A72-2611-0A86-A3B0D7542927}"/>
              </a:ext>
            </a:extLst>
          </p:cNvPr>
          <p:cNvSpPr>
            <a:spLocks noGrp="1"/>
          </p:cNvSpPr>
          <p:nvPr>
            <p:ph type="title"/>
          </p:nvPr>
        </p:nvSpPr>
        <p:spPr>
          <a:xfrm>
            <a:off x="309562" y="-20638"/>
            <a:ext cx="10515600" cy="1325563"/>
          </a:xfrm>
        </p:spPr>
        <p:txBody>
          <a:bodyPr/>
          <a:lstStyle/>
          <a:p>
            <a:r>
              <a:rPr lang="en-US" b="1">
                <a:solidFill>
                  <a:srgbClr val="1BD760"/>
                </a:solidFill>
              </a:rPr>
              <a:t>Key Takeaways</a:t>
            </a:r>
            <a:endParaRPr lang="en-US"/>
          </a:p>
        </p:txBody>
      </p:sp>
      <p:sp>
        <p:nvSpPr>
          <p:cNvPr id="4" name="TextBox 3">
            <a:extLst>
              <a:ext uri="{FF2B5EF4-FFF2-40B4-BE49-F238E27FC236}">
                <a16:creationId xmlns:a16="http://schemas.microsoft.com/office/drawing/2014/main" id="{E826505D-F8F9-2830-C6A9-882833F03F3D}"/>
              </a:ext>
            </a:extLst>
          </p:cNvPr>
          <p:cNvSpPr txBox="1"/>
          <p:nvPr/>
        </p:nvSpPr>
        <p:spPr>
          <a:xfrm>
            <a:off x="501112" y="2477146"/>
            <a:ext cx="589452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ui-sans-serif"/>
                <a:cs typeface="Arial"/>
              </a:rPr>
              <a:t>​</a:t>
            </a:r>
            <a:endParaRPr lang="en-US"/>
          </a:p>
        </p:txBody>
      </p:sp>
      <p:sp>
        <p:nvSpPr>
          <p:cNvPr id="5" name="TextBox 4">
            <a:extLst>
              <a:ext uri="{FF2B5EF4-FFF2-40B4-BE49-F238E27FC236}">
                <a16:creationId xmlns:a16="http://schemas.microsoft.com/office/drawing/2014/main" id="{366ACEA6-B59A-2827-6395-431F4A6E855D}"/>
              </a:ext>
            </a:extLst>
          </p:cNvPr>
          <p:cNvSpPr txBox="1"/>
          <p:nvPr/>
        </p:nvSpPr>
        <p:spPr>
          <a:xfrm>
            <a:off x="1024180" y="1301858"/>
            <a:ext cx="9801386"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B0604020202020204" pitchFamily="34" charset="0"/>
              <a:buChar char="•"/>
            </a:pPr>
            <a:endParaRPr lang="en-US" sz="2000" b="1">
              <a:solidFill>
                <a:srgbClr val="0D0D0D"/>
              </a:solidFill>
              <a:latin typeface="Aptos"/>
              <a:cs typeface="Segoe UI"/>
            </a:endParaRPr>
          </a:p>
          <a:p>
            <a:pPr marL="342900" indent="-342900">
              <a:buFont typeface="Arial" panose="020B0604020202020204" pitchFamily="34" charset="0"/>
              <a:buChar char="•"/>
            </a:pPr>
            <a:r>
              <a:rPr lang="en-US" sz="2000" b="1">
                <a:solidFill>
                  <a:srgbClr val="0D0D0D"/>
                </a:solidFill>
                <a:latin typeface="Aptos"/>
                <a:cs typeface="Segoe UI"/>
              </a:rPr>
              <a:t>Playlist presence</a:t>
            </a:r>
            <a:r>
              <a:rPr lang="en-US" sz="2000">
                <a:solidFill>
                  <a:srgbClr val="0D0D0D"/>
                </a:solidFill>
                <a:latin typeface="Aptos"/>
                <a:cs typeface="Segoe UI"/>
              </a:rPr>
              <a:t> is a critical predictor of streaming success</a:t>
            </a:r>
          </a:p>
          <a:p>
            <a:pPr marL="342900" indent="-342900">
              <a:buFont typeface="Arial" panose="020B0604020202020204" pitchFamily="34" charset="0"/>
              <a:buChar char="•"/>
            </a:pPr>
            <a:endParaRPr lang="en-US" sz="2000">
              <a:solidFill>
                <a:srgbClr val="0D0D0D"/>
              </a:solidFill>
              <a:latin typeface="Aptos"/>
              <a:cs typeface="Arial"/>
            </a:endParaRPr>
          </a:p>
          <a:p>
            <a:pPr marL="342900" indent="-342900">
              <a:buFont typeface="Arial" panose="020B0604020202020204" pitchFamily="34" charset="0"/>
              <a:buChar char="•"/>
            </a:pPr>
            <a:r>
              <a:rPr lang="en-US" sz="2000" b="1">
                <a:solidFill>
                  <a:srgbClr val="0D0D0D"/>
                </a:solidFill>
                <a:latin typeface="Aptos"/>
                <a:cs typeface="Segoe UI"/>
              </a:rPr>
              <a:t>Class</a:t>
            </a:r>
            <a:r>
              <a:rPr lang="en-US" sz="2000" b="1">
                <a:solidFill>
                  <a:srgbClr val="0D0D0D"/>
                </a:solidFill>
                <a:ea typeface="+mn-lt"/>
                <a:cs typeface="+mn-lt"/>
              </a:rPr>
              <a:t> imbalance</a:t>
            </a:r>
            <a:r>
              <a:rPr lang="en-US" sz="2000">
                <a:solidFill>
                  <a:srgbClr val="0D0D0D"/>
                </a:solidFill>
                <a:ea typeface="+mn-lt"/>
                <a:cs typeface="+mn-lt"/>
              </a:rPr>
              <a:t> significantly affects model performance, highlighting the need for balanced datasets</a:t>
            </a:r>
          </a:p>
          <a:p>
            <a:pPr marL="342900" indent="-342900">
              <a:buFont typeface="Arial" panose="020B0604020202020204" pitchFamily="34" charset="0"/>
              <a:buChar char="•"/>
            </a:pPr>
            <a:endParaRPr lang="en-US" sz="2000">
              <a:solidFill>
                <a:srgbClr val="000000"/>
              </a:solidFill>
              <a:ea typeface="+mn-lt"/>
              <a:cs typeface="+mn-lt"/>
            </a:endParaRPr>
          </a:p>
          <a:p>
            <a:pPr marL="342900" indent="-342900">
              <a:buFont typeface="Arial" panose="020B0604020202020204" pitchFamily="34" charset="0"/>
              <a:buChar char="•"/>
            </a:pPr>
            <a:r>
              <a:rPr lang="en-US" sz="2000" b="1">
                <a:solidFill>
                  <a:srgbClr val="0D0D0D"/>
                </a:solidFill>
                <a:latin typeface="Aptos"/>
                <a:ea typeface="+mn-lt"/>
                <a:cs typeface="Arial"/>
              </a:rPr>
              <a:t>Future</a:t>
            </a:r>
            <a:r>
              <a:rPr lang="en-US" sz="2000" b="1">
                <a:solidFill>
                  <a:srgbClr val="0D0D0D"/>
                </a:solidFill>
                <a:latin typeface="Aptos"/>
                <a:cs typeface="Arial"/>
              </a:rPr>
              <a:t> improvements</a:t>
            </a:r>
            <a:r>
              <a:rPr lang="en-US" sz="2000">
                <a:solidFill>
                  <a:srgbClr val="0D0D0D"/>
                </a:solidFill>
                <a:latin typeface="Aptos"/>
                <a:cs typeface="Arial"/>
              </a:rPr>
              <a:t> could include advanced models like neural networks or ensemble methods to better handle imbalanced data</a:t>
            </a:r>
            <a:r>
              <a:rPr lang="en-US" sz="2000">
                <a:latin typeface="Aptos"/>
                <a:cs typeface="Arial"/>
              </a:rPr>
              <a:t>​​</a:t>
            </a:r>
          </a:p>
          <a:p>
            <a:endParaRPr lang="en-US" sz="2000">
              <a:solidFill>
                <a:srgbClr val="000000"/>
              </a:solidFill>
              <a:latin typeface="Aptos"/>
              <a:cs typeface="Arial"/>
            </a:endParaRPr>
          </a:p>
          <a:p>
            <a:pPr marL="342900" indent="-342900">
              <a:buFont typeface="Arial" panose="020B0604020202020204" pitchFamily="34" charset="0"/>
              <a:buChar char="•"/>
            </a:pPr>
            <a:r>
              <a:rPr lang="en-US" sz="2000" b="1">
                <a:solidFill>
                  <a:srgbClr val="0D0D0D"/>
                </a:solidFill>
                <a:latin typeface="Aptos"/>
                <a:cs typeface="Arial"/>
              </a:rPr>
              <a:t>Insights into song features</a:t>
            </a:r>
            <a:r>
              <a:rPr lang="en-US" sz="2000">
                <a:solidFill>
                  <a:srgbClr val="0D0D0D"/>
                </a:solidFill>
                <a:latin typeface="Aptos"/>
                <a:cs typeface="Arial"/>
              </a:rPr>
              <a:t> provide valuable guidance for artists and producers aiming for </a:t>
            </a:r>
            <a:r>
              <a:rPr lang="en-US" sz="2000" b="1">
                <a:solidFill>
                  <a:srgbClr val="0D0D0D"/>
                </a:solidFill>
                <a:latin typeface="Aptos"/>
                <a:cs typeface="Arial"/>
              </a:rPr>
              <a:t>high streaming success</a:t>
            </a:r>
            <a:r>
              <a:rPr lang="en-US" sz="2000">
                <a:solidFill>
                  <a:srgbClr val="000000"/>
                </a:solidFill>
                <a:latin typeface="Aptos"/>
                <a:cs typeface="Arial"/>
              </a:rPr>
              <a:t>​​</a:t>
            </a:r>
          </a:p>
          <a:p>
            <a:endParaRPr lang="en-US" sz="2000">
              <a:latin typeface="Aptos"/>
              <a:cs typeface="Arial"/>
            </a:endParaRPr>
          </a:p>
          <a:p>
            <a:pPr marL="342900" indent="-342900">
              <a:buFont typeface="Arial" panose="020B0604020202020204" pitchFamily="34" charset="0"/>
              <a:buChar char="•"/>
            </a:pPr>
            <a:r>
              <a:rPr lang="en-US" sz="2000" b="1">
                <a:latin typeface="Aptos"/>
                <a:cs typeface="Arial"/>
              </a:rPr>
              <a:t>Logistic Regression</a:t>
            </a:r>
            <a:r>
              <a:rPr lang="en-US" sz="2000">
                <a:latin typeface="Aptos"/>
                <a:cs typeface="Arial"/>
              </a:rPr>
              <a:t> was the optimal model with the highest accuracy of 78% after class weighting</a:t>
            </a:r>
          </a:p>
          <a:p>
            <a:pPr marL="228600" indent="-228600">
              <a:buAutoNum type="arabicPeriod"/>
            </a:pPr>
            <a:endParaRPr lang="en-US" sz="2000">
              <a:latin typeface="Aptos"/>
              <a:cs typeface="Arial"/>
            </a:endParaRPr>
          </a:p>
        </p:txBody>
      </p:sp>
    </p:spTree>
    <p:extLst>
      <p:ext uri="{BB962C8B-B14F-4D97-AF65-F5344CB8AC3E}">
        <p14:creationId xmlns:p14="http://schemas.microsoft.com/office/powerpoint/2010/main" val="2137487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483E3-D2A6-594C-3F85-0C4B811B4EB0}"/>
              </a:ext>
            </a:extLst>
          </p:cNvPr>
          <p:cNvSpPr>
            <a:spLocks noGrp="1"/>
          </p:cNvSpPr>
          <p:nvPr>
            <p:ph type="title"/>
          </p:nvPr>
        </p:nvSpPr>
        <p:spPr/>
        <p:txBody>
          <a:bodyPr/>
          <a:lstStyle/>
          <a:p>
            <a:r>
              <a:rPr lang="en-US" b="1">
                <a:solidFill>
                  <a:srgbClr val="1BD760"/>
                </a:solidFill>
              </a:rPr>
              <a:t>Sources </a:t>
            </a:r>
            <a:endParaRPr lang="en-US"/>
          </a:p>
        </p:txBody>
      </p:sp>
      <p:sp>
        <p:nvSpPr>
          <p:cNvPr id="3" name="Content Placeholder 2">
            <a:extLst>
              <a:ext uri="{FF2B5EF4-FFF2-40B4-BE49-F238E27FC236}">
                <a16:creationId xmlns:a16="http://schemas.microsoft.com/office/drawing/2014/main" id="{7D0979F5-3D80-C5E2-2504-C85E0D0CFEE8}"/>
              </a:ext>
            </a:extLst>
          </p:cNvPr>
          <p:cNvSpPr>
            <a:spLocks noGrp="1"/>
          </p:cNvSpPr>
          <p:nvPr>
            <p:ph idx="1"/>
          </p:nvPr>
        </p:nvSpPr>
        <p:spPr/>
        <p:txBody>
          <a:bodyPr/>
          <a:lstStyle/>
          <a:p>
            <a:r>
              <a:rPr lang="en-US">
                <a:cs typeface="Times New Roman" panose="02020603050405020304" pitchFamily="18" charset="0"/>
              </a:rPr>
              <a:t>Iqbal, Mansoor. "Spotify Revenue and Usage Statistics (2024)." Updated October 1, 2024. </a:t>
            </a:r>
            <a:r>
              <a:rPr lang="en-US">
                <a:cs typeface="Times New Roman" panose="02020603050405020304" pitchFamily="18" charset="0"/>
                <a:hlinkClick r:id="rId2"/>
              </a:rPr>
              <a:t>Business of Apps</a:t>
            </a:r>
            <a:r>
              <a:rPr lang="en-US">
                <a:cs typeface="Times New Roman" panose="02020603050405020304" pitchFamily="18" charset="0"/>
              </a:rPr>
              <a:t>.</a:t>
            </a:r>
          </a:p>
          <a:p>
            <a:r>
              <a:rPr lang="en-US">
                <a:cs typeface="Times New Roman" panose="02020603050405020304" pitchFamily="18" charset="0"/>
              </a:rPr>
              <a:t>Singh, Shubham. "Spotify Statistics (2024) – User Growth, Top Artists &amp; More." September 17, 2024. </a:t>
            </a:r>
            <a:r>
              <a:rPr lang="en-US">
                <a:cs typeface="Times New Roman" panose="02020603050405020304" pitchFamily="18" charset="0"/>
                <a:hlinkClick r:id="rId3"/>
              </a:rPr>
              <a:t>Demand Sage</a:t>
            </a:r>
            <a:r>
              <a:rPr lang="en-US">
                <a:cs typeface="Times New Roman" panose="02020603050405020304" pitchFamily="18" charset="0"/>
              </a:rPr>
              <a:t>. </a:t>
            </a:r>
          </a:p>
        </p:txBody>
      </p:sp>
    </p:spTree>
    <p:extLst>
      <p:ext uri="{BB962C8B-B14F-4D97-AF65-F5344CB8AC3E}">
        <p14:creationId xmlns:p14="http://schemas.microsoft.com/office/powerpoint/2010/main" val="30668521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be32f68-c72d-420d-b5bd-750c63a268e4}" enabled="0" method="" siteId="{abe32f68-c72d-420d-b5bd-750c63a268e4}" removed="1"/>
</clbl:labelList>
</file>

<file path=docProps/app.xml><?xml version="1.0" encoding="utf-8"?>
<Properties xmlns="http://schemas.openxmlformats.org/officeDocument/2006/extended-properties" xmlns:vt="http://schemas.openxmlformats.org/officeDocument/2006/docPropsVTypes">
  <TotalTime>0</TotalTime>
  <Words>1147</Words>
  <Application>Microsoft Macintosh PowerPoint</Application>
  <PresentationFormat>Widescreen</PresentationFormat>
  <Paragraphs>97</Paragraphs>
  <Slides>14</Slides>
  <Notes>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Aptos</vt:lpstr>
      <vt:lpstr>Aptos Display</vt:lpstr>
      <vt:lpstr>Arial</vt:lpstr>
      <vt:lpstr>Bricolage Grotesque</vt:lpstr>
      <vt:lpstr>Calibri</vt:lpstr>
      <vt:lpstr>Google Sans</vt:lpstr>
      <vt:lpstr>system-ui</vt:lpstr>
      <vt:lpstr>Times New Roman</vt:lpstr>
      <vt:lpstr>ui-sans-serif</vt:lpstr>
      <vt:lpstr>Office Theme</vt:lpstr>
      <vt:lpstr>Predicting Spotify Song Streaming Success</vt:lpstr>
      <vt:lpstr>Magnitude of Problem</vt:lpstr>
      <vt:lpstr>Exploratory Data Visualizations</vt:lpstr>
      <vt:lpstr>Data Preprocessing</vt:lpstr>
      <vt:lpstr>Linear Regression</vt:lpstr>
      <vt:lpstr>Linear Regression</vt:lpstr>
      <vt:lpstr>Logistic Regression</vt:lpstr>
      <vt:lpstr>Logistic Regression</vt:lpstr>
      <vt:lpstr>Logistic Regression</vt:lpstr>
      <vt:lpstr>Bag of Words Model</vt:lpstr>
      <vt:lpstr>Bag of Words Model</vt:lpstr>
      <vt:lpstr>Principal Component Analysis </vt:lpstr>
      <vt:lpstr>Key Takeaways</vt:lpstr>
      <vt:lpstr>Sources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Reith, Kayley</dc:creator>
  <cp:lastModifiedBy>Reith, Kayley</cp:lastModifiedBy>
  <cp:revision>5</cp:revision>
  <dcterms:created xsi:type="dcterms:W3CDTF">2024-11-29T21:00:40Z</dcterms:created>
  <dcterms:modified xsi:type="dcterms:W3CDTF">2024-12-03T18:42:03Z</dcterms:modified>
</cp:coreProperties>
</file>